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Hi, we're Canvas Study Agent. Our pitch is about democratizing local AI. Running an LLM on your own machine usually means installing something like LM Studio or Ollama, picking a model, starting a server and wiring up your data. We took it one step further: with WebGPU, a Chrome extension is all you need. Install it, and a real open-weight model, Gemma, runs on your own GPU, reading your own data, with nothing leaving your device. Canvas courses are our proof of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Local AI tools like LM Studio and Ollama are great, but they're built for people who are comfortable with a few extra steps: install a runtime, find and download a model, start a server, then somehow connect your own data. Most students, teachers and non-developers will never do that. Our version has three steps: add the extension, click download once, and ask. Your data is already there because the extension reads it for you. Honest note: today the extension is loaded unpacked in Chrome 141 or later; a store listing is the obvious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[1:05-2:35] LIVE DEMO (screenshot is the backup). 1) Open a Canvas course page and click the extension: the sidebar opens beside the lesson and shows Local AI - Ready. Nothing else was installed. 2) Open Sources to show your data: the modules it read as Markdown. 3) Ask a course question. Point out the streamed answer and the [S#] citations. 4) Open a new chat and ask what you asked earlier to show [M#] memory. Mention: no API key, no server, nothing sent to a chat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[2:35-3:00] Follow the numbers. 1: the extension reads your Canvas pages with your own login. 2: you ask in the side panel. 3: the service worker picks the most relevant excerpts that fit a 6,144-token budget and hands the prompt to the model worker. 4: that worker runs Gemma 4 E2B through LiteRT-LM on WebGPU, so the math happens on your GPU. 5: the answer streams back with source and memory citations. Your data and chats stay in IndexedDB; the weights are cached in OPFS after a one-time, checksum-verified download from Hugging Face. Everything inside the yellow border is your device; no prompt leaves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[3:00-4:00] THE KEY SLIDE. Gemma 4 E2B is the brain: an open-weight model under Apache 2.0, a 2.01 GB file downloaded once and verified by checksum. It reads the excerpts of your data and writes a grounded answer. WebGPU is why there is nothing to install: it is built into Chrome and lets a web page use your GPU for compute. LiteRT-LM runs Gemma on it, so the math happens on your GPU, not on a server, and not in a separate app like LM Studio or Ollama. That is the democratizing part: if you can install a Chrome extension, you can run a real LLM locally on your own data. Once the weights are cached it even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[4:00-4:35] We want to be upfront. What we measured on our dev machine: loading the cached model with the host offline made zero weight requests; the first text of a warm-up reply appeared in 0.4 seconds; and we got real cited answers in two courses. What isn't done: a retrieval bug that missed a syllabus requirement is fixed and unit-tested but the native retest is pending; voice dictation's language pack failed to install here, so typing is the supported path; and the 12B model is disabled until it's validated. And a local model can still be wrong, so the app shows its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[4:35-5:00] Everything is open: the app is MIT, Gemma is Apache 2.0, and it runs on WebGPU in Chrome 141 or later with no chat API and no key. Next: finish the native retest of the retrieval fix, read PDF and DOCX attachments, and bring the same recipe, an extension plus WebGPU plus an open model, to any web app where people have their own data. Repo is on screen. For transparency: we used AI coding assistants to build it, but every study answer at runtime comes from Gemma.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1463040"/>
            <a:ext cx="5212080" cy="8229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Canvas Study Agent</a:t>
            </a:r>
            <a:endParaRPr lang="en-US" sz="4400" dirty="0"/>
          </a:p>
        </p:txBody>
      </p:sp>
      <p:sp>
        <p:nvSpPr>
          <p:cNvPr id="3" name="Subtitle"/>
          <p:cNvSpPr txBox="1"/>
          <p:nvPr/>
        </p:nvSpPr>
        <p:spPr>
          <a:xfrm>
            <a:off x="548640" y="2423160"/>
            <a:ext cx="4937760" cy="91440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Local AI for everyone: a real LLM on your own GPU, installed like any Chrome extension</a:t>
            </a:r>
            <a:endParaRPr lang="en-US" sz="1800" dirty="0"/>
          </a:p>
        </p:txBody>
      </p:sp>
      <p:sp>
        <p:nvSpPr>
          <p:cNvPr id="4" name="Event"/>
          <p:cNvSpPr txBox="1"/>
          <p:nvPr/>
        </p:nvSpPr>
        <p:spPr>
          <a:xfrm>
            <a:off x="548640" y="4343400"/>
            <a:ext cx="6858000" cy="27432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Hacktoberfest Hack Day Menifee × MSJC CSC Club  ·  Open Source AI</a:t>
            </a:r>
            <a:endParaRPr lang="en-US" sz="1200" dirty="0"/>
          </a:p>
        </p:txBody>
      </p:sp>
      <p:sp>
        <p:nvSpPr>
          <p:cNvPr id="5" name="Pill 1"/>
          <p:cNvSpPr/>
          <p:nvPr/>
        </p:nvSpPr>
        <p:spPr>
          <a:xfrm>
            <a:off x="6035040" y="1188720"/>
            <a:ext cx="2651760" cy="868680"/>
          </a:xfrm>
          <a:prstGeom prst="roundRect">
            <a:avLst>
              <a:gd name="adj" fmla="val 15789"/>
            </a:avLst>
          </a:prstGeom>
          <a:solidFill>
            <a:schemeClr val="accent2"/>
          </a:solidFill>
          <a:ln w="12700">
            <a:solidFill>
              <a:schemeClr val="accent2"/>
            </a:solidFill>
            <a:prstDash val="solid"/>
          </a:ln>
        </p:spPr>
      </p:sp>
      <p:pic>
        <p:nvPicPr>
          <p:cNvPr id="6" name="Image 0" descr="Gemma 4 E2B">    </p:cNvPr>
          <p:cNvPicPr>
            <a:picLocks noChangeAspect="1"/>
          </p:cNvPicPr>
          <p:nvPr/>
        </p:nvPicPr>
        <p:blipFill>
          <a:blip r:embed="rId1"/>
          <a:stretch>
            <a:fillRect/>
          </a:stretch>
        </p:blipFill>
        <p:spPr>
          <a:xfrm>
            <a:off x="6236208" y="1435608"/>
            <a:ext cx="365760" cy="365760"/>
          </a:xfrm>
          <a:prstGeom prst="rect">
            <a:avLst/>
          </a:prstGeom>
        </p:spPr>
      </p:pic>
      <p:sp>
        <p:nvSpPr>
          <p:cNvPr id="7" name="Pill 1 label"/>
          <p:cNvSpPr txBox="1"/>
          <p:nvPr/>
        </p:nvSpPr>
        <p:spPr>
          <a:xfrm>
            <a:off x="6766560" y="1316736"/>
            <a:ext cx="18288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Gemma 4 E2B</a:t>
            </a:r>
            <a:endParaRPr lang="en-US" sz="1800" dirty="0"/>
          </a:p>
        </p:txBody>
      </p:sp>
      <p:sp>
        <p:nvSpPr>
          <p:cNvPr id="8" name="Pill 1 sub"/>
          <p:cNvSpPr txBox="1"/>
          <p:nvPr/>
        </p:nvSpPr>
        <p:spPr>
          <a:xfrm>
            <a:off x="6766560" y="1664208"/>
            <a:ext cx="1828800" cy="2743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The model</a:t>
            </a:r>
            <a:endParaRPr lang="en-US" sz="1400" dirty="0"/>
          </a:p>
        </p:txBody>
      </p:sp>
      <p:sp>
        <p:nvSpPr>
          <p:cNvPr id="9" name="Pill 2"/>
          <p:cNvSpPr/>
          <p:nvPr/>
        </p:nvSpPr>
        <p:spPr>
          <a:xfrm>
            <a:off x="6035040" y="2240280"/>
            <a:ext cx="2651760" cy="868680"/>
          </a:xfrm>
          <a:prstGeom prst="roundRect">
            <a:avLst>
              <a:gd name="adj" fmla="val 15789"/>
            </a:avLst>
          </a:prstGeom>
          <a:solidFill>
            <a:schemeClr val="accent3"/>
          </a:solidFill>
          <a:ln w="12700">
            <a:solidFill>
              <a:schemeClr val="accent3"/>
            </a:solidFill>
            <a:prstDash val="solid"/>
          </a:ln>
        </p:spPr>
      </p:sp>
      <p:pic>
        <p:nvPicPr>
          <p:cNvPr id="10" name="Image 1" descr="WebGPU">    </p:cNvPr>
          <p:cNvPicPr>
            <a:picLocks noChangeAspect="1"/>
          </p:cNvPicPr>
          <p:nvPr/>
        </p:nvPicPr>
        <p:blipFill>
          <a:blip r:embed="rId2"/>
          <a:stretch>
            <a:fillRect/>
          </a:stretch>
        </p:blipFill>
        <p:spPr>
          <a:xfrm>
            <a:off x="6236208" y="2487168"/>
            <a:ext cx="365760" cy="365760"/>
          </a:xfrm>
          <a:prstGeom prst="rect">
            <a:avLst/>
          </a:prstGeom>
        </p:spPr>
      </p:pic>
      <p:sp>
        <p:nvSpPr>
          <p:cNvPr id="11" name="Pill 2 label"/>
          <p:cNvSpPr txBox="1"/>
          <p:nvPr/>
        </p:nvSpPr>
        <p:spPr>
          <a:xfrm>
            <a:off x="6766560" y="2368296"/>
            <a:ext cx="18288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WebGPU</a:t>
            </a:r>
            <a:endParaRPr lang="en-US" sz="1800" dirty="0"/>
          </a:p>
        </p:txBody>
      </p:sp>
      <p:sp>
        <p:nvSpPr>
          <p:cNvPr id="12" name="Pill 2 sub"/>
          <p:cNvSpPr txBox="1"/>
          <p:nvPr/>
        </p:nvSpPr>
        <p:spPr>
          <a:xfrm>
            <a:off x="6766560" y="2715768"/>
            <a:ext cx="1828800" cy="2743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No install needed</a:t>
            </a:r>
            <a:endParaRPr lang="en-US" sz="1400" dirty="0"/>
          </a:p>
        </p:txBody>
      </p:sp>
      <p:sp>
        <p:nvSpPr>
          <p:cNvPr id="13" name="Pill 3"/>
          <p:cNvSpPr/>
          <p:nvPr/>
        </p:nvSpPr>
        <p:spPr>
          <a:xfrm>
            <a:off x="6035040" y="3291840"/>
            <a:ext cx="2651760" cy="868680"/>
          </a:xfrm>
          <a:prstGeom prst="roundRect">
            <a:avLst>
              <a:gd name="adj" fmla="val 15789"/>
            </a:avLst>
          </a:prstGeom>
          <a:solidFill>
            <a:schemeClr val="accent1"/>
          </a:solidFill>
          <a:ln w="12700">
            <a:solidFill>
              <a:schemeClr val="accent1"/>
            </a:solidFill>
            <a:prstDash val="solid"/>
          </a:ln>
        </p:spPr>
      </p:sp>
      <p:pic>
        <p:nvPicPr>
          <p:cNvPr id="14" name="Image 2" descr="Chrome extension">    </p:cNvPr>
          <p:cNvPicPr>
            <a:picLocks noChangeAspect="1"/>
          </p:cNvPicPr>
          <p:nvPr/>
        </p:nvPicPr>
        <p:blipFill>
          <a:blip r:embed="rId3"/>
          <a:stretch>
            <a:fillRect/>
          </a:stretch>
        </p:blipFill>
        <p:spPr>
          <a:xfrm>
            <a:off x="6236208" y="3538728"/>
            <a:ext cx="365760" cy="365760"/>
          </a:xfrm>
          <a:prstGeom prst="rect">
            <a:avLst/>
          </a:prstGeom>
        </p:spPr>
      </p:pic>
      <p:sp>
        <p:nvSpPr>
          <p:cNvPr id="15" name="Pill 3 label"/>
          <p:cNvSpPr txBox="1"/>
          <p:nvPr/>
        </p:nvSpPr>
        <p:spPr>
          <a:xfrm>
            <a:off x="6766560" y="3419856"/>
            <a:ext cx="18288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Chrome extension</a:t>
            </a:r>
            <a:endParaRPr lang="en-US" sz="1800" dirty="0"/>
          </a:p>
        </p:txBody>
      </p:sp>
      <p:sp>
        <p:nvSpPr>
          <p:cNvPr id="16" name="Pill 3 sub"/>
          <p:cNvSpPr txBox="1"/>
          <p:nvPr/>
        </p:nvSpPr>
        <p:spPr>
          <a:xfrm>
            <a:off x="6766560" y="3767328"/>
            <a:ext cx="1828800" cy="2743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The only install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Local AI shouldn't need a setup guide</a:t>
            </a:r>
            <a:endParaRPr lang="en-US" sz="3200" dirty="0"/>
          </a:p>
        </p:txBody>
      </p:sp>
      <p:sp>
        <p:nvSpPr>
          <p:cNvPr id="3" name="Typical card"/>
          <p:cNvSpPr/>
          <p:nvPr/>
        </p:nvSpPr>
        <p:spPr>
          <a:xfrm>
            <a:off x="457200" y="1325880"/>
            <a:ext cx="4023360" cy="2926080"/>
          </a:xfrm>
          <a:prstGeom prst="roundRect">
            <a:avLst>
              <a:gd name="adj" fmla="val 3750"/>
            </a:avLst>
          </a:prstGeom>
          <a:solidFill>
            <a:schemeClr val="bg2"/>
          </a:solidFill>
          <a:ln w="12700">
            <a:solidFill>
              <a:schemeClr val="bg2"/>
            </a:solidFill>
            <a:prstDash val="solid"/>
          </a:ln>
        </p:spPr>
      </p:sp>
      <p:sp>
        <p:nvSpPr>
          <p:cNvPr id="4" name="Typical head"/>
          <p:cNvSpPr txBox="1"/>
          <p:nvPr/>
        </p:nvSpPr>
        <p:spPr>
          <a:xfrm>
            <a:off x="731520" y="1527048"/>
            <a:ext cx="3566160" cy="365760"/>
          </a:xfrm>
          <a:prstGeom prst="rect">
            <a:avLst/>
          </a:prstGeom>
          <a:noFill/>
          <a:ln/>
        </p:spPr>
        <p:txBody>
          <a:bodyPr wrap="square" lIns="0" tIns="0" rIns="0" bIns="0" rtlCol="0" anchor="t"/>
          <a:lstStyle/>
          <a:p>
            <a:pPr indent="0" marL="0">
              <a:buNone/>
            </a:pPr>
            <a:r>
              <a:rPr lang="en-US" sz="2000" b="1" dirty="0">
                <a:solidFill>
                  <a:schemeClr val="accent5"/>
                </a:solidFill>
                <a:latin typeface="Cambria" pitchFamily="34" charset="0"/>
                <a:ea typeface="Cambria" pitchFamily="34" charset="-122"/>
                <a:cs typeface="Cambria" pitchFamily="34" charset="-120"/>
              </a:rPr>
              <a:t>Typical local LLM setup</a:t>
            </a:r>
            <a:endParaRPr lang="en-US" sz="2000" dirty="0"/>
          </a:p>
        </p:txBody>
      </p:sp>
      <p:sp>
        <p:nvSpPr>
          <p:cNvPr id="5" name="Typical steps"/>
          <p:cNvSpPr txBox="1"/>
          <p:nvPr/>
        </p:nvSpPr>
        <p:spPr>
          <a:xfrm>
            <a:off x="731520" y="2057400"/>
            <a:ext cx="3566160" cy="20116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Install a runtime (LM Studio, Ollama)</a:t>
            </a:r>
            <a:endParaRPr lang="en-US" sz="1600" dirty="0"/>
          </a:p>
          <a:p>
            <a:pPr marL="342900" indent="-342900">
              <a:spcAft>
                <a:spcPts val="10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Find, pick and download a model</a:t>
            </a:r>
            <a:endParaRPr lang="en-US" sz="1600" dirty="0"/>
          </a:p>
          <a:p>
            <a:pPr marL="342900" indent="-342900">
              <a:spcAft>
                <a:spcPts val="1000"/>
              </a:spcAft>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Start a local server and tune settings</a:t>
            </a:r>
            <a:endParaRPr lang="en-US" sz="1600" dirty="0"/>
          </a:p>
          <a:p>
            <a:pPr marL="342900" indent="-342900">
              <a:buSzPct val="100000"/>
              <a:buFont typeface="+mj-lt"/>
              <a:buAutoNum type="arabicPeriod" startAt="1"/>
            </a:pPr>
            <a:r>
              <a:rPr lang="en-US" sz="1600" dirty="0">
                <a:solidFill>
                  <a:schemeClr val="tx1"/>
                </a:solidFill>
                <a:latin typeface="Calibri" pitchFamily="34" charset="0"/>
                <a:ea typeface="Calibri" pitchFamily="34" charset="-122"/>
                <a:cs typeface="Calibri" pitchFamily="34" charset="-120"/>
              </a:rPr>
              <a:t>Connect your own data by hand</a:t>
            </a:r>
            <a:endParaRPr lang="en-US" sz="1600" dirty="0"/>
          </a:p>
        </p:txBody>
      </p:sp>
      <p:sp>
        <p:nvSpPr>
          <p:cNvPr id="6" name="Ours card"/>
          <p:cNvSpPr/>
          <p:nvPr/>
        </p:nvSpPr>
        <p:spPr>
          <a:xfrm>
            <a:off x="4663440" y="1325880"/>
            <a:ext cx="4023360" cy="2926080"/>
          </a:xfrm>
          <a:prstGeom prst="roundRect">
            <a:avLst>
              <a:gd name="adj" fmla="val 3750"/>
            </a:avLst>
          </a:prstGeom>
          <a:solidFill>
            <a:schemeClr val="accent1"/>
          </a:solidFill>
          <a:ln w="12700">
            <a:solidFill>
              <a:schemeClr val="accent1"/>
            </a:solidFill>
            <a:prstDash val="solid"/>
          </a:ln>
        </p:spPr>
      </p:sp>
      <p:sp>
        <p:nvSpPr>
          <p:cNvPr id="7" name="Ours head"/>
          <p:cNvSpPr txBox="1"/>
          <p:nvPr/>
        </p:nvSpPr>
        <p:spPr>
          <a:xfrm>
            <a:off x="4937760" y="1527048"/>
            <a:ext cx="356616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Canvas Study Agent</a:t>
            </a:r>
            <a:endParaRPr lang="en-US" sz="2000" dirty="0"/>
          </a:p>
        </p:txBody>
      </p:sp>
      <p:sp>
        <p:nvSpPr>
          <p:cNvPr id="8" name="Ours steps"/>
          <p:cNvSpPr txBox="1"/>
          <p:nvPr/>
        </p:nvSpPr>
        <p:spPr>
          <a:xfrm>
            <a:off x="4937760" y="2057400"/>
            <a:ext cx="3566160" cy="15544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bg1"/>
                </a:solidFill>
                <a:latin typeface="Calibri" pitchFamily="34" charset="0"/>
                <a:ea typeface="Calibri" pitchFamily="34" charset="-122"/>
                <a:cs typeface="Calibri" pitchFamily="34" charset="-120"/>
              </a:rPr>
              <a:t>Add the Chrome extension</a:t>
            </a:r>
            <a:endParaRPr lang="en-US" sz="1600" dirty="0"/>
          </a:p>
          <a:p>
            <a:pPr marL="342900" indent="-342900">
              <a:spcAft>
                <a:spcPts val="1000"/>
              </a:spcAft>
              <a:buSzPct val="100000"/>
              <a:buFont typeface="+mj-lt"/>
              <a:buAutoNum type="arabicPeriod" startAt="1"/>
            </a:pPr>
            <a:r>
              <a:rPr lang="en-US" sz="1600" dirty="0">
                <a:solidFill>
                  <a:schemeClr val="bg1"/>
                </a:solidFill>
                <a:latin typeface="Calibri" pitchFamily="34" charset="0"/>
                <a:ea typeface="Calibri" pitchFamily="34" charset="-122"/>
                <a:cs typeface="Calibri" pitchFamily="34" charset="-120"/>
              </a:rPr>
              <a:t>Click download once (2.01 GB)</a:t>
            </a:r>
            <a:endParaRPr lang="en-US" sz="1600" dirty="0"/>
          </a:p>
          <a:p>
            <a:pPr marL="342900" indent="-342900">
              <a:buSzPct val="100000"/>
              <a:buFont typeface="+mj-lt"/>
              <a:buAutoNum type="arabicPeriod" startAt="1"/>
            </a:pPr>
            <a:r>
              <a:rPr lang="en-US" sz="1600" dirty="0">
                <a:solidFill>
                  <a:schemeClr val="bg1"/>
                </a:solidFill>
                <a:latin typeface="Calibri" pitchFamily="34" charset="0"/>
                <a:ea typeface="Calibri" pitchFamily="34" charset="-122"/>
                <a:cs typeface="Calibri" pitchFamily="34" charset="-120"/>
              </a:rPr>
              <a:t>Ask: your course data is already loaded</a:t>
            </a:r>
            <a:endParaRPr lang="en-US" sz="1600" dirty="0"/>
          </a:p>
        </p:txBody>
      </p:sp>
      <p:sp>
        <p:nvSpPr>
          <p:cNvPr id="9" name="Ours tagline"/>
          <p:cNvSpPr txBox="1"/>
          <p:nvPr/>
        </p:nvSpPr>
        <p:spPr>
          <a:xfrm>
            <a:off x="4937760" y="3703320"/>
            <a:ext cx="3566160" cy="365760"/>
          </a:xfrm>
          <a:prstGeom prst="rect">
            <a:avLst/>
          </a:prstGeom>
          <a:noFill/>
          <a:ln/>
        </p:spPr>
        <p:txBody>
          <a:bodyPr wrap="square" lIns="0" tIns="0" rIns="0" bIns="0" rtlCol="0" anchor="t"/>
          <a:lstStyle/>
          <a:p>
            <a:pPr indent="0" marL="0">
              <a:buNone/>
            </a:pPr>
            <a:r>
              <a:rPr lang="en-US" sz="1400" b="1" dirty="0">
                <a:solidFill>
                  <a:schemeClr val="accent4"/>
                </a:solidFill>
                <a:latin typeface="Calibri" pitchFamily="34" charset="0"/>
                <a:ea typeface="Calibri" pitchFamily="34" charset="-122"/>
                <a:cs typeface="Calibri" pitchFamily="34" charset="-120"/>
              </a:rPr>
              <a:t>No server, no API key, no terminal</a:t>
            </a:r>
            <a:endParaRPr lang="en-US" sz="1400" dirty="0"/>
          </a:p>
        </p:txBody>
      </p:sp>
      <p:sp>
        <p:nvSpPr>
          <p:cNvPr id="10" name="Footnote"/>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Today it loads unpacked in Chrome 141+; a store listing is the next step.</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Live demo: ask your course</a:t>
            </a:r>
            <a:endParaRPr lang="en-US" sz="3200" dirty="0"/>
          </a:p>
        </p:txBody>
      </p:sp>
      <p:sp>
        <p:nvSpPr>
          <p:cNvPr id="3" name="Step 1 badge"/>
          <p:cNvSpPr/>
          <p:nvPr/>
        </p:nvSpPr>
        <p:spPr>
          <a:xfrm>
            <a:off x="457200" y="1417320"/>
            <a:ext cx="457200" cy="457200"/>
          </a:xfrm>
          <a:prstGeom prst="ellipse">
            <a:avLst/>
          </a:prstGeom>
          <a:solidFill>
            <a:schemeClr val="accent1"/>
          </a:solidFill>
          <a:ln w="12700">
            <a:solidFill>
              <a:schemeClr val="accent1"/>
            </a:solidFill>
            <a:prstDash val="solid"/>
          </a:ln>
        </p:spPr>
      </p:sp>
      <p:sp>
        <p:nvSpPr>
          <p:cNvPr id="4" name="Step 1 number"/>
          <p:cNvSpPr txBox="1"/>
          <p:nvPr/>
        </p:nvSpPr>
        <p:spPr>
          <a:xfrm>
            <a:off x="4572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5" name="Step 1 head"/>
          <p:cNvSpPr txBox="1"/>
          <p:nvPr/>
        </p:nvSpPr>
        <p:spPr>
          <a:xfrm>
            <a:off x="1097280" y="1371600"/>
            <a:ext cx="2743200" cy="29260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Open a Canvas page</a:t>
            </a:r>
            <a:endParaRPr lang="en-US" sz="1800" dirty="0"/>
          </a:p>
        </p:txBody>
      </p:sp>
      <p:sp>
        <p:nvSpPr>
          <p:cNvPr id="6" name="Step 1 body"/>
          <p:cNvSpPr txBox="1"/>
          <p:nvPr/>
        </p:nvSpPr>
        <p:spPr>
          <a:xfrm>
            <a:off x="1097280" y="1673352"/>
            <a:ext cx="2743200" cy="2743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The sidebar follows your course.</a:t>
            </a:r>
            <a:endParaRPr lang="en-US" sz="1400" dirty="0"/>
          </a:p>
        </p:txBody>
      </p:sp>
      <p:sp>
        <p:nvSpPr>
          <p:cNvPr id="7" name="Step 2 badge"/>
          <p:cNvSpPr/>
          <p:nvPr/>
        </p:nvSpPr>
        <p:spPr>
          <a:xfrm>
            <a:off x="457200" y="2240280"/>
            <a:ext cx="457200" cy="457200"/>
          </a:xfrm>
          <a:prstGeom prst="ellipse">
            <a:avLst/>
          </a:prstGeom>
          <a:solidFill>
            <a:schemeClr val="accent1"/>
          </a:solidFill>
          <a:ln w="12700">
            <a:solidFill>
              <a:schemeClr val="accent1"/>
            </a:solidFill>
            <a:prstDash val="solid"/>
          </a:ln>
        </p:spPr>
      </p:sp>
      <p:sp>
        <p:nvSpPr>
          <p:cNvPr id="8" name="Step 2 number"/>
          <p:cNvSpPr txBox="1"/>
          <p:nvPr/>
        </p:nvSpPr>
        <p:spPr>
          <a:xfrm>
            <a:off x="457200" y="2240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9" name="Step 2 head"/>
          <p:cNvSpPr txBox="1"/>
          <p:nvPr/>
        </p:nvSpPr>
        <p:spPr>
          <a:xfrm>
            <a:off x="1097280" y="2194560"/>
            <a:ext cx="2743200" cy="29260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See your data</a:t>
            </a:r>
            <a:endParaRPr lang="en-US" sz="1800" dirty="0"/>
          </a:p>
        </p:txBody>
      </p:sp>
      <p:sp>
        <p:nvSpPr>
          <p:cNvPr id="10" name="Step 2 body"/>
          <p:cNvSpPr txBox="1"/>
          <p:nvPr/>
        </p:nvSpPr>
        <p:spPr>
          <a:xfrm>
            <a:off x="1097280" y="2496312"/>
            <a:ext cx="2743200" cy="2743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Every linked page, as Markdown.</a:t>
            </a:r>
            <a:endParaRPr lang="en-US" sz="1400" dirty="0"/>
          </a:p>
        </p:txBody>
      </p:sp>
      <p:sp>
        <p:nvSpPr>
          <p:cNvPr id="11" name="Step 3 badge"/>
          <p:cNvSpPr/>
          <p:nvPr/>
        </p:nvSpPr>
        <p:spPr>
          <a:xfrm>
            <a:off x="457200" y="3063240"/>
            <a:ext cx="457200" cy="457200"/>
          </a:xfrm>
          <a:prstGeom prst="ellipse">
            <a:avLst/>
          </a:prstGeom>
          <a:solidFill>
            <a:schemeClr val="accent1"/>
          </a:solidFill>
          <a:ln w="12700">
            <a:solidFill>
              <a:schemeClr val="accent1"/>
            </a:solidFill>
            <a:prstDash val="solid"/>
          </a:ln>
        </p:spPr>
      </p:sp>
      <p:sp>
        <p:nvSpPr>
          <p:cNvPr id="12" name="Step 3 number"/>
          <p:cNvSpPr txBox="1"/>
          <p:nvPr/>
        </p:nvSpPr>
        <p:spPr>
          <a:xfrm>
            <a:off x="45720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3" name="Step 3 head"/>
          <p:cNvSpPr txBox="1"/>
          <p:nvPr/>
        </p:nvSpPr>
        <p:spPr>
          <a:xfrm>
            <a:off x="1097280" y="3017520"/>
            <a:ext cx="2743200" cy="29260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Ask a question</a:t>
            </a:r>
            <a:endParaRPr lang="en-US" sz="1800" dirty="0"/>
          </a:p>
        </p:txBody>
      </p:sp>
      <p:sp>
        <p:nvSpPr>
          <p:cNvPr id="14" name="Step 3 body"/>
          <p:cNvSpPr txBox="1"/>
          <p:nvPr/>
        </p:nvSpPr>
        <p:spPr>
          <a:xfrm>
            <a:off x="1097280" y="3319272"/>
            <a:ext cx="2743200" cy="2743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Gemma streams a cited answer.</a:t>
            </a:r>
            <a:endParaRPr lang="en-US" sz="1400" dirty="0"/>
          </a:p>
        </p:txBody>
      </p:sp>
      <p:sp>
        <p:nvSpPr>
          <p:cNvPr id="15" name="Step 4 badge"/>
          <p:cNvSpPr/>
          <p:nvPr/>
        </p:nvSpPr>
        <p:spPr>
          <a:xfrm>
            <a:off x="457200" y="3886200"/>
            <a:ext cx="457200" cy="457200"/>
          </a:xfrm>
          <a:prstGeom prst="ellipse">
            <a:avLst/>
          </a:prstGeom>
          <a:solidFill>
            <a:schemeClr val="accent1"/>
          </a:solidFill>
          <a:ln w="12700">
            <a:solidFill>
              <a:schemeClr val="accent1"/>
            </a:solidFill>
            <a:prstDash val="solid"/>
          </a:ln>
        </p:spPr>
      </p:sp>
      <p:sp>
        <p:nvSpPr>
          <p:cNvPr id="16" name="Step 4 number"/>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7" name="Step 4 head"/>
          <p:cNvSpPr txBox="1"/>
          <p:nvPr/>
        </p:nvSpPr>
        <p:spPr>
          <a:xfrm>
            <a:off x="1097280" y="3840480"/>
            <a:ext cx="2743200" cy="292608"/>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Start a new chat</a:t>
            </a:r>
            <a:endParaRPr lang="en-US" sz="1800" dirty="0"/>
          </a:p>
        </p:txBody>
      </p:sp>
      <p:sp>
        <p:nvSpPr>
          <p:cNvPr id="18" name="Step 4 body"/>
          <p:cNvSpPr txBox="1"/>
          <p:nvPr/>
        </p:nvSpPr>
        <p:spPr>
          <a:xfrm>
            <a:off x="1097280" y="4142232"/>
            <a:ext cx="2743200" cy="2743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It remembers the earlier one.</a:t>
            </a:r>
            <a:endParaRPr lang="en-US" sz="1400" dirty="0"/>
          </a:p>
        </p:txBody>
      </p:sp>
      <p:pic>
        <p:nvPicPr>
          <p:cNvPr id="19" name="Image 0" descr="Canvas page beside the Study Agent sidebar showing a cited answer">    </p:cNvPr>
          <p:cNvPicPr>
            <a:picLocks noChangeAspect="1"/>
          </p:cNvPicPr>
          <p:nvPr/>
        </p:nvPicPr>
        <p:blipFill>
          <a:blip r:embed="rId1"/>
          <a:stretch>
            <a:fillRect/>
          </a:stretch>
        </p:blipFill>
        <p:spPr>
          <a:xfrm>
            <a:off x="4114800" y="1371600"/>
            <a:ext cx="4572000" cy="2753360"/>
          </a:xfrm>
          <a:prstGeom prst="rect">
            <a:avLst/>
          </a:prstGeom>
          <a:effectLst>
            <a:outerShdw sx="100000" sy="100000" kx="0" ky="0" algn="bl" rotWithShape="0" blurRad="101600" dist="25400" dir="5400000">
              <a:srgbClr val="000000">
                <a:alpha val="25000"/>
              </a:srgbClr>
            </a:outerShdw>
          </a:effectLst>
        </p:spPr>
      </p:pic>
      <p:sp>
        <p:nvSpPr>
          <p:cNvPr id="20" name="Demo caption"/>
          <p:cNvSpPr txBox="1"/>
          <p:nvPr/>
        </p:nvSpPr>
        <p:spPr>
          <a:xfrm>
            <a:off x="4114800" y="4262120"/>
            <a:ext cx="4572000" cy="4572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Real on-device run: Gemma 4 E2B cites course sources [S1] [S2] and earlier-chat memory [M2].</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The whole stack lives in your browser</a:t>
            </a:r>
            <a:endParaRPr lang="en-US" sz="3200" dirty="0"/>
          </a:p>
        </p:txBody>
      </p:sp>
      <p:pic>
        <p:nvPicPr>
          <p:cNvPr id="3" name="Image 0" descr="Architecture: Canvas pages are read into a side panel, grounded by a service worker, and answered by Gemma 4 E2B through LiteRT-LM on WebGPU on your GPU; weights are downloaded once from Hugging Face and no prompt leaves the device.">    </p:cNvPr>
          <p:cNvPicPr>
            <a:picLocks noChangeAspect="1"/>
          </p:cNvPicPr>
          <p:nvPr/>
        </p:nvPicPr>
        <p:blipFill>
          <a:blip r:embed="rId1"/>
          <a:stretch>
            <a:fillRect/>
          </a:stretch>
        </p:blipFill>
        <p:spPr>
          <a:xfrm>
            <a:off x="457200" y="1143000"/>
            <a:ext cx="8229600" cy="347472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Gemma thinks. WebGPU removes the setup.</a:t>
            </a:r>
            <a:endParaRPr lang="en-US" sz="3200" dirty="0"/>
          </a:p>
        </p:txBody>
      </p:sp>
      <p:sp>
        <p:nvSpPr>
          <p:cNvPr id="3" name="Role card 1"/>
          <p:cNvSpPr/>
          <p:nvPr/>
        </p:nvSpPr>
        <p:spPr>
          <a:xfrm>
            <a:off x="457200" y="1280160"/>
            <a:ext cx="4023360" cy="2514600"/>
          </a:xfrm>
          <a:prstGeom prst="roundRect">
            <a:avLst>
              <a:gd name="adj" fmla="val 4364"/>
            </a:avLst>
          </a:prstGeom>
          <a:solidFill>
            <a:schemeClr val="bg2"/>
          </a:solidFill>
          <a:ln w="12700">
            <a:solidFill>
              <a:schemeClr val="bg2"/>
            </a:solidFill>
            <a:prstDash val="solid"/>
          </a:ln>
        </p:spPr>
      </p:sp>
      <p:sp>
        <p:nvSpPr>
          <p:cNvPr id="4" name="Role icon circle 1"/>
          <p:cNvSpPr/>
          <p:nvPr/>
        </p:nvSpPr>
        <p:spPr>
          <a:xfrm>
            <a:off x="731520" y="1481328"/>
            <a:ext cx="594360" cy="594360"/>
          </a:xfrm>
          <a:prstGeom prst="ellipse">
            <a:avLst/>
          </a:prstGeom>
          <a:solidFill>
            <a:schemeClr val="accent2"/>
          </a:solidFill>
          <a:ln w="12700">
            <a:solidFill>
              <a:schemeClr val="accent2"/>
            </a:solidFill>
            <a:prstDash val="solid"/>
          </a:ln>
        </p:spPr>
      </p:sp>
      <p:pic>
        <p:nvPicPr>
          <p:cNvPr id="5" name="Image 0" descr="Gemma 4 E2B">    </p:cNvPr>
          <p:cNvPicPr>
            <a:picLocks noChangeAspect="1"/>
          </p:cNvPicPr>
          <p:nvPr/>
        </p:nvPicPr>
        <p:blipFill>
          <a:blip r:embed="rId1"/>
          <a:stretch>
            <a:fillRect/>
          </a:stretch>
        </p:blipFill>
        <p:spPr>
          <a:xfrm>
            <a:off x="886968" y="1636776"/>
            <a:ext cx="283464" cy="283464"/>
          </a:xfrm>
          <a:prstGeom prst="rect">
            <a:avLst/>
          </a:prstGeom>
        </p:spPr>
      </p:pic>
      <p:sp>
        <p:nvSpPr>
          <p:cNvPr id="6" name="Role 1 head"/>
          <p:cNvSpPr txBox="1"/>
          <p:nvPr/>
        </p:nvSpPr>
        <p:spPr>
          <a:xfrm>
            <a:off x="1508760" y="1463040"/>
            <a:ext cx="2743200" cy="347472"/>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Gemma 4 E2B</a:t>
            </a:r>
            <a:endParaRPr lang="en-US" sz="2200" dirty="0"/>
          </a:p>
        </p:txBody>
      </p:sp>
      <p:sp>
        <p:nvSpPr>
          <p:cNvPr id="7" name="Role 1 sub"/>
          <p:cNvSpPr txBox="1"/>
          <p:nvPr/>
        </p:nvSpPr>
        <p:spPr>
          <a:xfrm>
            <a:off x="1508760" y="1810512"/>
            <a:ext cx="2743200" cy="256032"/>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The model</a:t>
            </a:r>
            <a:endParaRPr lang="en-US" sz="1400" dirty="0"/>
          </a:p>
        </p:txBody>
      </p:sp>
      <p:sp>
        <p:nvSpPr>
          <p:cNvPr id="8" name="Role 1 bullets"/>
          <p:cNvSpPr txBox="1"/>
          <p:nvPr/>
        </p:nvSpPr>
        <p:spPr>
          <a:xfrm>
            <a:off x="731520" y="2331720"/>
            <a:ext cx="352044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Open weights (Apache 2.0): no API, no key</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2.01 GB, downloaded once, SHA-256 verified</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Answers from the course excerpts we hand it</a:t>
            </a:r>
            <a:endParaRPr lang="en-US" sz="1400" dirty="0"/>
          </a:p>
        </p:txBody>
      </p:sp>
      <p:sp>
        <p:nvSpPr>
          <p:cNvPr id="9" name="Role card 2"/>
          <p:cNvSpPr/>
          <p:nvPr/>
        </p:nvSpPr>
        <p:spPr>
          <a:xfrm>
            <a:off x="4663440" y="1280160"/>
            <a:ext cx="4023360" cy="2514600"/>
          </a:xfrm>
          <a:prstGeom prst="roundRect">
            <a:avLst>
              <a:gd name="adj" fmla="val 4364"/>
            </a:avLst>
          </a:prstGeom>
          <a:solidFill>
            <a:schemeClr val="bg2"/>
          </a:solidFill>
          <a:ln w="12700">
            <a:solidFill>
              <a:schemeClr val="bg2"/>
            </a:solidFill>
            <a:prstDash val="solid"/>
          </a:ln>
        </p:spPr>
      </p:sp>
      <p:sp>
        <p:nvSpPr>
          <p:cNvPr id="10" name="Role icon circle 2"/>
          <p:cNvSpPr/>
          <p:nvPr/>
        </p:nvSpPr>
        <p:spPr>
          <a:xfrm>
            <a:off x="4937760" y="1481328"/>
            <a:ext cx="594360" cy="594360"/>
          </a:xfrm>
          <a:prstGeom prst="ellipse">
            <a:avLst/>
          </a:prstGeom>
          <a:solidFill>
            <a:schemeClr val="accent3"/>
          </a:solidFill>
          <a:ln w="12700">
            <a:solidFill>
              <a:schemeClr val="accent3"/>
            </a:solidFill>
            <a:prstDash val="solid"/>
          </a:ln>
        </p:spPr>
      </p:sp>
      <p:pic>
        <p:nvPicPr>
          <p:cNvPr id="11" name="Image 1" descr="WebGPU">    </p:cNvPr>
          <p:cNvPicPr>
            <a:picLocks noChangeAspect="1"/>
          </p:cNvPicPr>
          <p:nvPr/>
        </p:nvPicPr>
        <p:blipFill>
          <a:blip r:embed="rId2"/>
          <a:stretch>
            <a:fillRect/>
          </a:stretch>
        </p:blipFill>
        <p:spPr>
          <a:xfrm>
            <a:off x="5093208" y="1636776"/>
            <a:ext cx="283464" cy="283464"/>
          </a:xfrm>
          <a:prstGeom prst="rect">
            <a:avLst/>
          </a:prstGeom>
        </p:spPr>
      </p:pic>
      <p:sp>
        <p:nvSpPr>
          <p:cNvPr id="12" name="Role 2 head"/>
          <p:cNvSpPr txBox="1"/>
          <p:nvPr/>
        </p:nvSpPr>
        <p:spPr>
          <a:xfrm>
            <a:off x="5715000" y="1463040"/>
            <a:ext cx="2743200" cy="347472"/>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WebGPU</a:t>
            </a:r>
            <a:endParaRPr lang="en-US" sz="2200" dirty="0"/>
          </a:p>
        </p:txBody>
      </p:sp>
      <p:sp>
        <p:nvSpPr>
          <p:cNvPr id="13" name="Role 2 sub"/>
          <p:cNvSpPr txBox="1"/>
          <p:nvPr/>
        </p:nvSpPr>
        <p:spPr>
          <a:xfrm>
            <a:off x="5715000" y="1810512"/>
            <a:ext cx="2743200" cy="256032"/>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Why there's nothing to install</a:t>
            </a:r>
            <a:endParaRPr lang="en-US" sz="1400" dirty="0"/>
          </a:p>
        </p:txBody>
      </p:sp>
      <p:sp>
        <p:nvSpPr>
          <p:cNvPr id="14" name="Role 2 bullets"/>
          <p:cNvSpPr txBox="1"/>
          <p:nvPr/>
        </p:nvSpPr>
        <p:spPr>
          <a:xfrm>
            <a:off x="4937760" y="2331720"/>
            <a:ext cx="352044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Built into Chrome: GPU compute from a web page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LiteRT-LM 0.18.0 runs Gemma in a worker</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No separate runtime or local server; needs shader-f16</a:t>
            </a:r>
            <a:endParaRPr lang="en-US" sz="1400" dirty="0"/>
          </a:p>
        </p:txBody>
      </p:sp>
      <p:sp>
        <p:nvSpPr>
          <p:cNvPr id="15" name="Together banner"/>
          <p:cNvSpPr/>
          <p:nvPr/>
        </p:nvSpPr>
        <p:spPr>
          <a:xfrm>
            <a:off x="457200" y="4023360"/>
            <a:ext cx="8229600" cy="548640"/>
          </a:xfrm>
          <a:prstGeom prst="roundRect">
            <a:avLst>
              <a:gd name="adj" fmla="val 16667"/>
            </a:avLst>
          </a:prstGeom>
          <a:solidFill>
            <a:schemeClr val="tx1"/>
          </a:solidFill>
          <a:ln w="12700">
            <a:solidFill>
              <a:schemeClr val="tx1"/>
            </a:solidFill>
            <a:prstDash val="solid"/>
          </a:ln>
        </p:spPr>
      </p:sp>
      <p:sp>
        <p:nvSpPr>
          <p:cNvPr id="16" name="Together text"/>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Together: local AI with no terminal, no server, no API key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Verified, and not yet verified</a:t>
            </a:r>
            <a:endParaRPr lang="en-US" sz="3200" dirty="0"/>
          </a:p>
        </p:txBody>
      </p:sp>
      <p:sp>
        <p:nvSpPr>
          <p:cNvPr id="3" name="Stat card 1"/>
          <p:cNvSpPr/>
          <p:nvPr/>
        </p:nvSpPr>
        <p:spPr>
          <a:xfrm>
            <a:off x="457200" y="1325880"/>
            <a:ext cx="4114800" cy="896112"/>
          </a:xfrm>
          <a:prstGeom prst="roundRect">
            <a:avLst>
              <a:gd name="adj" fmla="val 10204"/>
            </a:avLst>
          </a:prstGeom>
          <a:solidFill>
            <a:schemeClr val="bg2"/>
          </a:solidFill>
          <a:ln w="12700">
            <a:solidFill>
              <a:schemeClr val="bg2"/>
            </a:solidFill>
            <a:prstDash val="solid"/>
          </a:ln>
        </p:spPr>
      </p:sp>
      <p:sp>
        <p:nvSpPr>
          <p:cNvPr id="4" name="Stat 1 number"/>
          <p:cNvSpPr txBox="1"/>
          <p:nvPr/>
        </p:nvSpPr>
        <p:spPr>
          <a:xfrm>
            <a:off x="640080" y="1325880"/>
            <a:ext cx="1417320" cy="896112"/>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0</a:t>
            </a:r>
            <a:endParaRPr lang="en-US" sz="3600" dirty="0"/>
          </a:p>
        </p:txBody>
      </p:sp>
      <p:sp>
        <p:nvSpPr>
          <p:cNvPr id="5" name="Stat 1 label"/>
          <p:cNvSpPr txBox="1"/>
          <p:nvPr/>
        </p:nvSpPr>
        <p:spPr>
          <a:xfrm>
            <a:off x="2103120" y="1325880"/>
            <a:ext cx="2331720" cy="8961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model-weight requests when loading from cache, offline</a:t>
            </a:r>
            <a:endParaRPr lang="en-US" sz="1400" dirty="0"/>
          </a:p>
        </p:txBody>
      </p:sp>
      <p:sp>
        <p:nvSpPr>
          <p:cNvPr id="6" name="Stat card 2"/>
          <p:cNvSpPr/>
          <p:nvPr/>
        </p:nvSpPr>
        <p:spPr>
          <a:xfrm>
            <a:off x="457200" y="2350008"/>
            <a:ext cx="4114800" cy="896112"/>
          </a:xfrm>
          <a:prstGeom prst="roundRect">
            <a:avLst>
              <a:gd name="adj" fmla="val 10204"/>
            </a:avLst>
          </a:prstGeom>
          <a:solidFill>
            <a:schemeClr val="bg2"/>
          </a:solidFill>
          <a:ln w="12700">
            <a:solidFill>
              <a:schemeClr val="bg2"/>
            </a:solidFill>
            <a:prstDash val="solid"/>
          </a:ln>
        </p:spPr>
      </p:sp>
      <p:sp>
        <p:nvSpPr>
          <p:cNvPr id="7" name="Stat 2 number"/>
          <p:cNvSpPr txBox="1"/>
          <p:nvPr/>
        </p:nvSpPr>
        <p:spPr>
          <a:xfrm>
            <a:off x="640080" y="2350008"/>
            <a:ext cx="1417320" cy="896112"/>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0.4 s</a:t>
            </a:r>
            <a:endParaRPr lang="en-US" sz="3600" dirty="0"/>
          </a:p>
        </p:txBody>
      </p:sp>
      <p:sp>
        <p:nvSpPr>
          <p:cNvPr id="8" name="Stat 2 label"/>
          <p:cNvSpPr txBox="1"/>
          <p:nvPr/>
        </p:nvSpPr>
        <p:spPr>
          <a:xfrm>
            <a:off x="2103120" y="2350008"/>
            <a:ext cx="2331720" cy="8961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to first text from the cached model (warm-up reply)</a:t>
            </a:r>
            <a:endParaRPr lang="en-US" sz="1400" dirty="0"/>
          </a:p>
        </p:txBody>
      </p:sp>
      <p:sp>
        <p:nvSpPr>
          <p:cNvPr id="9" name="Stat card 3"/>
          <p:cNvSpPr/>
          <p:nvPr/>
        </p:nvSpPr>
        <p:spPr>
          <a:xfrm>
            <a:off x="457200" y="3374136"/>
            <a:ext cx="4114800" cy="896112"/>
          </a:xfrm>
          <a:prstGeom prst="roundRect">
            <a:avLst>
              <a:gd name="adj" fmla="val 10204"/>
            </a:avLst>
          </a:prstGeom>
          <a:solidFill>
            <a:schemeClr val="bg2"/>
          </a:solidFill>
          <a:ln w="12700">
            <a:solidFill>
              <a:schemeClr val="bg2"/>
            </a:solidFill>
            <a:prstDash val="solid"/>
          </a:ln>
        </p:spPr>
      </p:sp>
      <p:sp>
        <p:nvSpPr>
          <p:cNvPr id="10" name="Stat 3 number"/>
          <p:cNvSpPr txBox="1"/>
          <p:nvPr/>
        </p:nvSpPr>
        <p:spPr>
          <a:xfrm>
            <a:off x="640080" y="3374136"/>
            <a:ext cx="1417320" cy="896112"/>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11" name="Stat 3 label"/>
          <p:cNvSpPr txBox="1"/>
          <p:nvPr/>
        </p:nvSpPr>
        <p:spPr>
          <a:xfrm>
            <a:off x="2103120" y="3374136"/>
            <a:ext cx="2331720" cy="8961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real courses answered with citations</a:t>
            </a:r>
            <a:endParaRPr lang="en-US" sz="1400" dirty="0"/>
          </a:p>
        </p:txBody>
      </p:sp>
      <p:sp>
        <p:nvSpPr>
          <p:cNvPr id="12" name="Limits card"/>
          <p:cNvSpPr/>
          <p:nvPr/>
        </p:nvSpPr>
        <p:spPr>
          <a:xfrm>
            <a:off x="4846320" y="1325880"/>
            <a:ext cx="3840480" cy="2944368"/>
          </a:xfrm>
          <a:prstGeom prst="roundRect">
            <a:avLst>
              <a:gd name="adj" fmla="val 3727"/>
            </a:avLst>
          </a:prstGeom>
          <a:solidFill>
            <a:schemeClr val="tx1"/>
          </a:solidFill>
          <a:ln w="12700">
            <a:solidFill>
              <a:schemeClr val="tx1"/>
            </a:solidFill>
            <a:prstDash val="solid"/>
          </a:ln>
        </p:spPr>
      </p:sp>
      <p:sp>
        <p:nvSpPr>
          <p:cNvPr id="13" name="Limits head"/>
          <p:cNvSpPr txBox="1"/>
          <p:nvPr/>
        </p:nvSpPr>
        <p:spPr>
          <a:xfrm>
            <a:off x="5120640" y="1508760"/>
            <a:ext cx="3291840" cy="36576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Not yet verified</a:t>
            </a:r>
            <a:endParaRPr lang="en-US" sz="2000" dirty="0"/>
          </a:p>
        </p:txBody>
      </p:sp>
      <p:sp>
        <p:nvSpPr>
          <p:cNvPr id="14" name="Limits bullets"/>
          <p:cNvSpPr txBox="1"/>
          <p:nvPr/>
        </p:nvSpPr>
        <p:spPr>
          <a:xfrm>
            <a:off x="5120640" y="1965960"/>
            <a:ext cx="333756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Retrieval fix: unit-tested, native retest pending</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Voice dictation: speech pack failed to install; typing works</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12B QAT model: disabled until validated</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Local is not the same as correct: check the sources</a:t>
            </a:r>
            <a:endParaRPr lang="en-US" sz="1400" dirty="0"/>
          </a:p>
        </p:txBody>
      </p:sp>
      <p:sp>
        <p:nvSpPr>
          <p:cNvPr id="15" name="Footnote"/>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Observed on one 16 GiB development machine; not a compatibility guarantee.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ph idx="100" type="title" hasCustomPrompt="1"/>
          </p:nvPr>
        </p:nvSpPr>
        <p:spPr>
          <a:xfrm>
            <a:off x="457200" y="320040"/>
            <a:ext cx="822960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Local AI for everyone.</a:t>
            </a:r>
            <a:endParaRPr lang="en-US" sz="3200" dirty="0"/>
          </a:p>
        </p:txBody>
      </p:sp>
      <p:sp>
        <p:nvSpPr>
          <p:cNvPr id="3" name="Today head"/>
          <p:cNvSpPr txBox="1"/>
          <p:nvPr/>
        </p:nvSpPr>
        <p:spPr>
          <a:xfrm>
            <a:off x="457200" y="1371600"/>
            <a:ext cx="3840480" cy="36576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Today</a:t>
            </a:r>
            <a:endParaRPr lang="en-US" sz="2000" dirty="0"/>
          </a:p>
        </p:txBody>
      </p:sp>
      <p:sp>
        <p:nvSpPr>
          <p:cNvPr id="4" name="Today bullets"/>
          <p:cNvSpPr txBox="1"/>
          <p:nvPr/>
        </p:nvSpPr>
        <p:spPr>
          <a:xfrm>
            <a:off x="457200" y="1828800"/>
            <a:ext cx="38404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App: MIT licensed</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Model: Gemma 4, Apache 2.0</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Runs on WebGPU in Chrome 141+</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No chat API, no API key</a:t>
            </a:r>
            <a:endParaRPr lang="en-US" sz="1600" dirty="0"/>
          </a:p>
        </p:txBody>
      </p:sp>
      <p:sp>
        <p:nvSpPr>
          <p:cNvPr id="5" name="Next head"/>
          <p:cNvSpPr txBox="1"/>
          <p:nvPr/>
        </p:nvSpPr>
        <p:spPr>
          <a:xfrm>
            <a:off x="4754880" y="1371600"/>
            <a:ext cx="3840480" cy="36576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Next</a:t>
            </a:r>
            <a:endParaRPr lang="en-US" sz="2000" dirty="0"/>
          </a:p>
        </p:txBody>
      </p:sp>
      <p:sp>
        <p:nvSpPr>
          <p:cNvPr id="6" name="Next bullets"/>
          <p:cNvSpPr txBox="1"/>
          <p:nvPr/>
        </p:nvSpPr>
        <p:spPr>
          <a:xfrm>
            <a:off x="4754880" y="1828800"/>
            <a:ext cx="38404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Native retest of the retrieval fix</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Read PDF and DOCX attachments</a:t>
            </a:r>
            <a:endParaRPr lang="en-US" sz="1600" dirty="0"/>
          </a:p>
          <a:p>
            <a:pPr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Bring the recipe to any web app</a:t>
            </a:r>
            <a:endParaRPr lang="en-US" sz="1600" dirty="0"/>
          </a:p>
        </p:txBody>
      </p:sp>
      <p:pic>
        <p:nvPicPr>
          <p:cNvPr id="7" name="Image 0" descr="GitHub">    </p:cNvPr>
          <p:cNvPicPr>
            <a:picLocks noChangeAspect="1"/>
          </p:cNvPicPr>
          <p:nvPr/>
        </p:nvPicPr>
        <p:blipFill>
          <a:blip r:embed="rId1"/>
          <a:stretch>
            <a:fillRect/>
          </a:stretch>
        </p:blipFill>
        <p:spPr>
          <a:xfrm>
            <a:off x="457200" y="3767328"/>
            <a:ext cx="310896" cy="310896"/>
          </a:xfrm>
          <a:prstGeom prst="rect">
            <a:avLst/>
          </a:prstGeom>
        </p:spPr>
      </p:pic>
      <p:sp>
        <p:nvSpPr>
          <p:cNvPr id="8" name="Repo URL"/>
          <p:cNvSpPr txBox="1"/>
          <p:nvPr/>
        </p:nvSpPr>
        <p:spPr>
          <a:xfrm>
            <a:off x="914400" y="3749040"/>
            <a:ext cx="7680960" cy="36576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github.com/gabrielromerod/hackathon-canvas-study-agent</a:t>
            </a:r>
            <a:endParaRPr lang="en-US" sz="1800" dirty="0"/>
          </a:p>
        </p:txBody>
      </p:sp>
      <p:sp>
        <p:nvSpPr>
          <p:cNvPr id="9" name="Disclosure"/>
          <p:cNvSpPr txBox="1"/>
          <p:nvPr/>
        </p:nvSpPr>
        <p:spPr>
          <a:xfrm>
            <a:off x="457200" y="4434840"/>
            <a:ext cx="7589520" cy="22860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Built with AI coding assistance (Codex, GPT-6.1 Sol). Runtime answers come from Gemma only.</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Canvas Study Agent">
  <a:themeElements>
    <a:clrScheme name="Canvas Study Agent">
      <a:dk1>
        <a:srgbClr val="1B1B24"/>
      </a:dk1>
      <a:lt1>
        <a:srgbClr val="FFFFFF"/>
      </a:lt1>
      <a:dk2>
        <a:srgbClr val="8C1D18"/>
      </a:dk2>
      <a:lt2>
        <a:srgbClr val="F3F4F6"/>
      </a:lt2>
      <a:accent1>
        <a:srgbClr val="8C1D18"/>
      </a:accent1>
      <a:accent2>
        <a:srgbClr val="3B6FE0"/>
      </a:accent2>
      <a:accent3>
        <a:srgbClr val="0B7F73"/>
      </a:accent3>
      <a:accent4>
        <a:srgbClr val="F2B84B"/>
      </a:accent4>
      <a:accent5>
        <a:srgbClr val="5B6070"/>
      </a:accent5>
      <a:accent6>
        <a:srgbClr val="C2410C"/>
      </a:accent6>
      <a:hlink>
        <a:srgbClr val="3B6FE0"/>
      </a:hlink>
      <a:folHlink>
        <a:srgbClr val="5B6070"/>
      </a:folHlink>
    </a:clrScheme>
    <a:fontScheme name="Canvas Study Ag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Canvas Study Agent: 5-minute pitch</dc:title>
  <dc:subject>PptxGenJS Presentation</dc:subject>
  <dc:creator>Canvas Study Agent</dc:creator>
  <cp:lastModifiedBy>Canvas Study Agent</cp:lastModifiedBy>
  <cp:revision>1</cp:revision>
  <dcterms:created xsi:type="dcterms:W3CDTF">2026-10-23T20:49:04Z</dcterms:created>
  <dcterms:modified xsi:type="dcterms:W3CDTF">2026-10-23T20:49:04Z</dcterms:modified>
</cp:coreProperties>
</file>