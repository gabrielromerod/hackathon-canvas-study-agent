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Hi, we're presenting Canvas Study Agent. It's a Chrome sidebar that sits next to your MSJC Canvas lesson and answers questions about your course. The twist: the AI isn't in the cloud. Gemma, an open-weight model, runs on your own GPU through WebGPU. Two minutes on the demo, then I'll explain how those two pieces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[0:20-1:00] Students already study inside Canvas. Most AI help means copying course material into a hosted chatbot: your content leaves your device, you need accounts or API keys, and the answers don't point back to your syllabus. Our answer: put the assistant in a sidebar, read the course pages locally, cite them, and run the model on the student's own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[1:00-2:30] LIVE DEMO (screenshot is the backup). 1) Open a Canvas course page and click the extension: the sidebar opens beside the lesson and shows 'Local AI - Ready'. 2) Open Sources to show the modules it read as Markdown. 3) Ask a course question. Point out the streamed answer and the [S#] citations. 4) Open a new chat and ask 'what did I ask earlier?' to show [M#] memory. Mention: no API key, nothing is sent to a chat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[2:30-3:00] Quick tour. The extension reads the Canvas pages with the student's own login and turns them into Markdown. Local grounding ranks the most relevant excerpts and fits them into a 6,144-token budget. Gemma runs inside a browser worker through LiteRT-LM on WebGPU. The answer streams back with citations. Course data and chats live in IndexedDB; the model weights live in the browser's private file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[3:00-4:00] THE KEY SLIDE. Gemma 4 E2B is the brain: an open-weight model, Apache 2.0, a 2.01 GB file downloaded once and verified by checksum. It reads the course excerpts we give it and writes a grounded answer. WebGPU is the engine: a browser API that lets web code use the GPU for compute. LiteRT-LM compiles Gemma to run on it, so the matrix math happens on the student's GPU, not on a server. Without WebGPU a 2 GB model would be too slow to be usable in a browser; without Gemma being open and small, there would be nothing we could legally and practically ship. Together: private by design, free to run, and once the weights are cached it works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[4:00-4:35] We want to be upfront. What we measured on our dev machine: loading the cached model with the host offline made zero weight requests; the first text of a warm-up reply appeared in 0.4 seconds; and we got real cited answers in two courses. What isn't done: a retrieval bug that missed a syllabus requirement is fixed and unit-tested but the native retest is pending; voice dictation's language pack failed to install here, so typing is the supported path; and the 12B model is disabled until it's validated. And a local model can still be wrong, so the app shows its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[4:35-5:00] Everything is open: the app is MIT, Gemma is Apache 2.0, and it runs on WebGPU in Chrome 141 or later with no chat API and no key. Next we want to finish the native retest of the retrieval fix, read PDF and DOCX attachments, and validate larger Gemma models. Repo is on screen. For transparency: we used AI coding assistants to build it, but every study answer at runtime comes from Gemma.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1463040"/>
            <a:ext cx="5212080" cy="82296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Canvas Study Agent</a:t>
            </a:r>
            <a:endParaRPr lang="en-US" sz="4400" dirty="0"/>
          </a:p>
        </p:txBody>
      </p:sp>
      <p:sp>
        <p:nvSpPr>
          <p:cNvPr id="3" name="Subtitle"/>
          <p:cNvSpPr txBox="1"/>
          <p:nvPr/>
        </p:nvSpPr>
        <p:spPr>
          <a:xfrm>
            <a:off x="548640" y="2423160"/>
            <a:ext cx="4937760" cy="914400"/>
          </a:xfrm>
          <a:prstGeom prst="rect">
            <a:avLst/>
          </a:prstGeom>
          <a:noFill/>
          <a:ln/>
        </p:spPr>
        <p:txBody>
          <a:bodyPr wrap="square" lIns="0" tIns="0" rIns="0" bIns="0" rtlCol="0" anchor="t"/>
          <a:lstStyle/>
          <a:p>
            <a:pPr indent="0" marL="0">
              <a:buNone/>
            </a:pPr>
            <a:r>
              <a:rPr lang="en-US" sz="1800" dirty="0">
                <a:solidFill>
                  <a:schemeClr val="bg2"/>
                </a:solidFill>
                <a:latin typeface="Calibri" pitchFamily="34" charset="0"/>
                <a:ea typeface="Calibri" pitchFamily="34" charset="-122"/>
                <a:cs typeface="Calibri" pitchFamily="34" charset="-120"/>
              </a:rPr>
              <a:t>A private AI tutor in your Chrome sidebar, running Gemma on your own GPU with WebGPU</a:t>
            </a:r>
            <a:endParaRPr lang="en-US" sz="1800" dirty="0"/>
          </a:p>
        </p:txBody>
      </p:sp>
      <p:sp>
        <p:nvSpPr>
          <p:cNvPr id="4" name="Event"/>
          <p:cNvSpPr txBox="1"/>
          <p:nvPr/>
        </p:nvSpPr>
        <p:spPr>
          <a:xfrm>
            <a:off x="548640" y="4343400"/>
            <a:ext cx="6858000" cy="27432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Hacktoberfest Hack Day Menifee × MSJC CSC Club  ·  Open Source AI</a:t>
            </a:r>
            <a:endParaRPr lang="en-US" sz="1200" dirty="0"/>
          </a:p>
        </p:txBody>
      </p:sp>
      <p:sp>
        <p:nvSpPr>
          <p:cNvPr id="5" name="Pill 1"/>
          <p:cNvSpPr/>
          <p:nvPr/>
        </p:nvSpPr>
        <p:spPr>
          <a:xfrm>
            <a:off x="6035040" y="1188720"/>
            <a:ext cx="2651760" cy="868680"/>
          </a:xfrm>
          <a:prstGeom prst="roundRect">
            <a:avLst>
              <a:gd name="adj" fmla="val 15789"/>
            </a:avLst>
          </a:prstGeom>
          <a:solidFill>
            <a:schemeClr val="accent2"/>
          </a:solidFill>
          <a:ln w="12700">
            <a:solidFill>
              <a:schemeClr val="accent2"/>
            </a:solidFill>
            <a:prstDash val="solid"/>
          </a:ln>
        </p:spPr>
      </p:sp>
      <p:pic>
        <p:nvPicPr>
          <p:cNvPr id="6" name="Image 0" descr="Gemma 4 E2B">    </p:cNvPr>
          <p:cNvPicPr>
            <a:picLocks noChangeAspect="1"/>
          </p:cNvPicPr>
          <p:nvPr/>
        </p:nvPicPr>
        <p:blipFill>
          <a:blip r:embed="rId1"/>
          <a:stretch>
            <a:fillRect/>
          </a:stretch>
        </p:blipFill>
        <p:spPr>
          <a:xfrm>
            <a:off x="6236208" y="1435608"/>
            <a:ext cx="365760" cy="365760"/>
          </a:xfrm>
          <a:prstGeom prst="rect">
            <a:avLst/>
          </a:prstGeom>
        </p:spPr>
      </p:pic>
      <p:sp>
        <p:nvSpPr>
          <p:cNvPr id="7" name="Pill 1 label"/>
          <p:cNvSpPr txBox="1"/>
          <p:nvPr/>
        </p:nvSpPr>
        <p:spPr>
          <a:xfrm>
            <a:off x="6766560" y="1316736"/>
            <a:ext cx="182880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Gemma 4 E2B</a:t>
            </a:r>
            <a:endParaRPr lang="en-US" sz="1800" dirty="0"/>
          </a:p>
        </p:txBody>
      </p:sp>
      <p:sp>
        <p:nvSpPr>
          <p:cNvPr id="8" name="Pill 1 sub"/>
          <p:cNvSpPr txBox="1"/>
          <p:nvPr/>
        </p:nvSpPr>
        <p:spPr>
          <a:xfrm>
            <a:off x="6766560" y="1664208"/>
            <a:ext cx="1828800" cy="2743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The model</a:t>
            </a:r>
            <a:endParaRPr lang="en-US" sz="1400" dirty="0"/>
          </a:p>
        </p:txBody>
      </p:sp>
      <p:sp>
        <p:nvSpPr>
          <p:cNvPr id="9" name="Pill 2"/>
          <p:cNvSpPr/>
          <p:nvPr/>
        </p:nvSpPr>
        <p:spPr>
          <a:xfrm>
            <a:off x="6035040" y="2240280"/>
            <a:ext cx="2651760" cy="868680"/>
          </a:xfrm>
          <a:prstGeom prst="roundRect">
            <a:avLst>
              <a:gd name="adj" fmla="val 15789"/>
            </a:avLst>
          </a:prstGeom>
          <a:solidFill>
            <a:schemeClr val="accent3"/>
          </a:solidFill>
          <a:ln w="12700">
            <a:solidFill>
              <a:schemeClr val="accent3"/>
            </a:solidFill>
            <a:prstDash val="solid"/>
          </a:ln>
        </p:spPr>
      </p:sp>
      <p:pic>
        <p:nvPicPr>
          <p:cNvPr id="10" name="Image 1" descr="WebGPU">    </p:cNvPr>
          <p:cNvPicPr>
            <a:picLocks noChangeAspect="1"/>
          </p:cNvPicPr>
          <p:nvPr/>
        </p:nvPicPr>
        <p:blipFill>
          <a:blip r:embed="rId2"/>
          <a:stretch>
            <a:fillRect/>
          </a:stretch>
        </p:blipFill>
        <p:spPr>
          <a:xfrm>
            <a:off x="6236208" y="2487168"/>
            <a:ext cx="365760" cy="365760"/>
          </a:xfrm>
          <a:prstGeom prst="rect">
            <a:avLst/>
          </a:prstGeom>
        </p:spPr>
      </p:pic>
      <p:sp>
        <p:nvSpPr>
          <p:cNvPr id="11" name="Pill 2 label"/>
          <p:cNvSpPr txBox="1"/>
          <p:nvPr/>
        </p:nvSpPr>
        <p:spPr>
          <a:xfrm>
            <a:off x="6766560" y="2368296"/>
            <a:ext cx="182880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WebGPU</a:t>
            </a:r>
            <a:endParaRPr lang="en-US" sz="1800" dirty="0"/>
          </a:p>
        </p:txBody>
      </p:sp>
      <p:sp>
        <p:nvSpPr>
          <p:cNvPr id="12" name="Pill 2 sub"/>
          <p:cNvSpPr txBox="1"/>
          <p:nvPr/>
        </p:nvSpPr>
        <p:spPr>
          <a:xfrm>
            <a:off x="6766560" y="2715768"/>
            <a:ext cx="1828800" cy="2743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The engine</a:t>
            </a:r>
            <a:endParaRPr lang="en-US" sz="1400" dirty="0"/>
          </a:p>
        </p:txBody>
      </p:sp>
      <p:sp>
        <p:nvSpPr>
          <p:cNvPr id="13" name="Pill 3"/>
          <p:cNvSpPr/>
          <p:nvPr/>
        </p:nvSpPr>
        <p:spPr>
          <a:xfrm>
            <a:off x="6035040" y="3291840"/>
            <a:ext cx="2651760" cy="868680"/>
          </a:xfrm>
          <a:prstGeom prst="roundRect">
            <a:avLst>
              <a:gd name="adj" fmla="val 15789"/>
            </a:avLst>
          </a:prstGeom>
          <a:solidFill>
            <a:schemeClr val="accent1"/>
          </a:solidFill>
          <a:ln w="12700">
            <a:solidFill>
              <a:schemeClr val="accent1"/>
            </a:solidFill>
            <a:prstDash val="solid"/>
          </a:ln>
        </p:spPr>
      </p:sp>
      <p:pic>
        <p:nvPicPr>
          <p:cNvPr id="14" name="Image 2" descr="Chrome side panel">    </p:cNvPr>
          <p:cNvPicPr>
            <a:picLocks noChangeAspect="1"/>
          </p:cNvPicPr>
          <p:nvPr/>
        </p:nvPicPr>
        <p:blipFill>
          <a:blip r:embed="rId3"/>
          <a:stretch>
            <a:fillRect/>
          </a:stretch>
        </p:blipFill>
        <p:spPr>
          <a:xfrm>
            <a:off x="6236208" y="3538728"/>
            <a:ext cx="365760" cy="365760"/>
          </a:xfrm>
          <a:prstGeom prst="rect">
            <a:avLst/>
          </a:prstGeom>
        </p:spPr>
      </p:pic>
      <p:sp>
        <p:nvSpPr>
          <p:cNvPr id="15" name="Pill 3 label"/>
          <p:cNvSpPr txBox="1"/>
          <p:nvPr/>
        </p:nvSpPr>
        <p:spPr>
          <a:xfrm>
            <a:off x="6766560" y="3419856"/>
            <a:ext cx="182880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Chrome side panel</a:t>
            </a:r>
            <a:endParaRPr lang="en-US" sz="1800" dirty="0"/>
          </a:p>
        </p:txBody>
      </p:sp>
      <p:sp>
        <p:nvSpPr>
          <p:cNvPr id="16" name="Pill 3 sub"/>
          <p:cNvSpPr txBox="1"/>
          <p:nvPr/>
        </p:nvSpPr>
        <p:spPr>
          <a:xfrm>
            <a:off x="6766560" y="3767328"/>
            <a:ext cx="1828800" cy="2743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The home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Cloud tutors want your course data</a:t>
            </a:r>
            <a:endParaRPr lang="en-US" sz="3200" dirty="0"/>
          </a:p>
        </p:txBody>
      </p:sp>
      <p:sp>
        <p:nvSpPr>
          <p:cNvPr id="3" name="Icon circle 1"/>
          <p:cNvSpPr/>
          <p:nvPr/>
        </p:nvSpPr>
        <p:spPr>
          <a:xfrm>
            <a:off x="457200" y="1371600"/>
            <a:ext cx="594360" cy="594360"/>
          </a:xfrm>
          <a:prstGeom prst="ellipse">
            <a:avLst/>
          </a:prstGeom>
          <a:solidFill>
            <a:schemeClr val="bg2"/>
          </a:solidFill>
          <a:ln w="12700">
            <a:solidFill>
              <a:schemeClr val="bg2"/>
            </a:solidFill>
            <a:prstDash val="solid"/>
          </a:ln>
        </p:spPr>
      </p:sp>
      <p:pic>
        <p:nvPicPr>
          <p:cNvPr id="4" name="Image 0" descr="Your material leaves your device">    </p:cNvPr>
          <p:cNvPicPr>
            <a:picLocks noChangeAspect="1"/>
          </p:cNvPicPr>
          <p:nvPr/>
        </p:nvPicPr>
        <p:blipFill>
          <a:blip r:embed="rId1"/>
          <a:stretch>
            <a:fillRect/>
          </a:stretch>
        </p:blipFill>
        <p:spPr>
          <a:xfrm>
            <a:off x="612648" y="1527048"/>
            <a:ext cx="283464" cy="283464"/>
          </a:xfrm>
          <a:prstGeom prst="rect">
            <a:avLst/>
          </a:prstGeom>
        </p:spPr>
      </p:pic>
      <p:sp>
        <p:nvSpPr>
          <p:cNvPr id="5" name="Problem 1 head"/>
          <p:cNvSpPr txBox="1"/>
          <p:nvPr/>
        </p:nvSpPr>
        <p:spPr>
          <a:xfrm>
            <a:off x="1280160" y="1353312"/>
            <a:ext cx="402336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Your material leaves your device</a:t>
            </a:r>
            <a:endParaRPr lang="en-US" sz="1800" dirty="0"/>
          </a:p>
        </p:txBody>
      </p:sp>
      <p:sp>
        <p:nvSpPr>
          <p:cNvPr id="6" name="Problem 1 body"/>
          <p:cNvSpPr txBox="1"/>
          <p:nvPr/>
        </p:nvSpPr>
        <p:spPr>
          <a:xfrm>
            <a:off x="1280160" y="1691640"/>
            <a:ext cx="4023360" cy="5486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Pasting lectures and chats into a hosted chatbot sends them to someone else's server.</a:t>
            </a:r>
            <a:endParaRPr lang="en-US" sz="1400" dirty="0"/>
          </a:p>
        </p:txBody>
      </p:sp>
      <p:sp>
        <p:nvSpPr>
          <p:cNvPr id="7" name="Icon circle 2"/>
          <p:cNvSpPr/>
          <p:nvPr/>
        </p:nvSpPr>
        <p:spPr>
          <a:xfrm>
            <a:off x="457200" y="2450592"/>
            <a:ext cx="594360" cy="594360"/>
          </a:xfrm>
          <a:prstGeom prst="ellipse">
            <a:avLst/>
          </a:prstGeom>
          <a:solidFill>
            <a:schemeClr val="bg2"/>
          </a:solidFill>
          <a:ln w="12700">
            <a:solidFill>
              <a:schemeClr val="bg2"/>
            </a:solidFill>
            <a:prstDash val="solid"/>
          </a:ln>
        </p:spPr>
      </p:sp>
      <p:pic>
        <p:nvPicPr>
          <p:cNvPr id="8" name="Image 1" descr="Accounts, API keys, usage limits">    </p:cNvPr>
          <p:cNvPicPr>
            <a:picLocks noChangeAspect="1"/>
          </p:cNvPicPr>
          <p:nvPr/>
        </p:nvPicPr>
        <p:blipFill>
          <a:blip r:embed="rId2"/>
          <a:stretch>
            <a:fillRect/>
          </a:stretch>
        </p:blipFill>
        <p:spPr>
          <a:xfrm>
            <a:off x="612648" y="2606040"/>
            <a:ext cx="283464" cy="283464"/>
          </a:xfrm>
          <a:prstGeom prst="rect">
            <a:avLst/>
          </a:prstGeom>
        </p:spPr>
      </p:pic>
      <p:sp>
        <p:nvSpPr>
          <p:cNvPr id="9" name="Problem 2 head"/>
          <p:cNvSpPr txBox="1"/>
          <p:nvPr/>
        </p:nvSpPr>
        <p:spPr>
          <a:xfrm>
            <a:off x="1280160" y="2432304"/>
            <a:ext cx="402336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Accounts, API keys, usage limits</a:t>
            </a:r>
            <a:endParaRPr lang="en-US" sz="1800" dirty="0"/>
          </a:p>
        </p:txBody>
      </p:sp>
      <p:sp>
        <p:nvSpPr>
          <p:cNvPr id="10" name="Problem 2 body"/>
          <p:cNvSpPr txBox="1"/>
          <p:nvPr/>
        </p:nvSpPr>
        <p:spPr>
          <a:xfrm>
            <a:off x="1280160" y="2770632"/>
            <a:ext cx="4023360" cy="5486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Hosted AI comes with sign-ups, quotas and bills.</a:t>
            </a:r>
            <a:endParaRPr lang="en-US" sz="1400" dirty="0"/>
          </a:p>
        </p:txBody>
      </p:sp>
      <p:sp>
        <p:nvSpPr>
          <p:cNvPr id="11" name="Icon circle 3"/>
          <p:cNvSpPr/>
          <p:nvPr/>
        </p:nvSpPr>
        <p:spPr>
          <a:xfrm>
            <a:off x="457200" y="3529584"/>
            <a:ext cx="594360" cy="594360"/>
          </a:xfrm>
          <a:prstGeom prst="ellipse">
            <a:avLst/>
          </a:prstGeom>
          <a:solidFill>
            <a:schemeClr val="bg2"/>
          </a:solidFill>
          <a:ln w="12700">
            <a:solidFill>
              <a:schemeClr val="bg2"/>
            </a:solidFill>
            <a:prstDash val="solid"/>
          </a:ln>
        </p:spPr>
      </p:sp>
      <p:pic>
        <p:nvPicPr>
          <p:cNvPr id="12" name="Image 2" descr="Answers with no trail back">    </p:cNvPr>
          <p:cNvPicPr>
            <a:picLocks noChangeAspect="1"/>
          </p:cNvPicPr>
          <p:nvPr/>
        </p:nvPicPr>
        <p:blipFill>
          <a:blip r:embed="rId3"/>
          <a:stretch>
            <a:fillRect/>
          </a:stretch>
        </p:blipFill>
        <p:spPr>
          <a:xfrm>
            <a:off x="612648" y="3685032"/>
            <a:ext cx="283464" cy="283464"/>
          </a:xfrm>
          <a:prstGeom prst="rect">
            <a:avLst/>
          </a:prstGeom>
        </p:spPr>
      </p:pic>
      <p:sp>
        <p:nvSpPr>
          <p:cNvPr id="13" name="Problem 3 head"/>
          <p:cNvSpPr txBox="1"/>
          <p:nvPr/>
        </p:nvSpPr>
        <p:spPr>
          <a:xfrm>
            <a:off x="1280160" y="3511296"/>
            <a:ext cx="402336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Answers with no trail back</a:t>
            </a:r>
            <a:endParaRPr lang="en-US" sz="1800" dirty="0"/>
          </a:p>
        </p:txBody>
      </p:sp>
      <p:sp>
        <p:nvSpPr>
          <p:cNvPr id="14" name="Problem 3 body"/>
          <p:cNvSpPr txBox="1"/>
          <p:nvPr/>
        </p:nvSpPr>
        <p:spPr>
          <a:xfrm>
            <a:off x="1280160" y="3849624"/>
            <a:ext cx="4023360" cy="5486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Generic replies don't point to your syllabus or lesson page.</a:t>
            </a:r>
            <a:endParaRPr lang="en-US" sz="1400" dirty="0"/>
          </a:p>
        </p:txBody>
      </p:sp>
      <p:sp>
        <p:nvSpPr>
          <p:cNvPr id="15" name="Answer card"/>
          <p:cNvSpPr/>
          <p:nvPr/>
        </p:nvSpPr>
        <p:spPr>
          <a:xfrm>
            <a:off x="5669280" y="1325880"/>
            <a:ext cx="3017520" cy="3246120"/>
          </a:xfrm>
          <a:prstGeom prst="roundRect">
            <a:avLst>
              <a:gd name="adj" fmla="val 3636"/>
            </a:avLst>
          </a:prstGeom>
          <a:solidFill>
            <a:schemeClr val="accent1"/>
          </a:solidFill>
          <a:ln w="12700">
            <a:solidFill>
              <a:schemeClr val="accent1"/>
            </a:solidFill>
            <a:prstDash val="solid"/>
          </a:ln>
        </p:spPr>
      </p:sp>
      <p:sp>
        <p:nvSpPr>
          <p:cNvPr id="16" name="Answer head"/>
          <p:cNvSpPr txBox="1"/>
          <p:nvPr/>
        </p:nvSpPr>
        <p:spPr>
          <a:xfrm>
            <a:off x="5943600" y="1554480"/>
            <a:ext cx="246888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Our answer</a:t>
            </a:r>
            <a:endParaRPr lang="en-US" sz="2000" dirty="0"/>
          </a:p>
        </p:txBody>
      </p:sp>
      <p:sp>
        <p:nvSpPr>
          <p:cNvPr id="17" name="Answer bullets"/>
          <p:cNvSpPr txBox="1"/>
          <p:nvPr/>
        </p:nvSpPr>
        <p:spPr>
          <a:xfrm>
            <a:off x="5943600" y="2057400"/>
            <a:ext cx="251460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A sidebar beside the lesson</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Reads module-linked Canvas pages</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Answers cite course sources</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Gemma runs on your GPU; chats stay local</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Live demo: ask your course</a:t>
            </a:r>
            <a:endParaRPr lang="en-US" sz="3200" dirty="0"/>
          </a:p>
        </p:txBody>
      </p:sp>
      <p:sp>
        <p:nvSpPr>
          <p:cNvPr id="3" name="Step 1 badge"/>
          <p:cNvSpPr/>
          <p:nvPr/>
        </p:nvSpPr>
        <p:spPr>
          <a:xfrm>
            <a:off x="457200" y="1417320"/>
            <a:ext cx="457200" cy="457200"/>
          </a:xfrm>
          <a:prstGeom prst="ellipse">
            <a:avLst/>
          </a:prstGeom>
          <a:solidFill>
            <a:schemeClr val="accent1"/>
          </a:solidFill>
          <a:ln w="12700">
            <a:solidFill>
              <a:schemeClr val="accent1"/>
            </a:solidFill>
            <a:prstDash val="solid"/>
          </a:ln>
        </p:spPr>
      </p:sp>
      <p:sp>
        <p:nvSpPr>
          <p:cNvPr id="4" name="Step 1 number"/>
          <p:cNvSpPr txBox="1"/>
          <p:nvPr/>
        </p:nvSpPr>
        <p:spPr>
          <a:xfrm>
            <a:off x="45720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5" name="Step 1 head"/>
          <p:cNvSpPr txBox="1"/>
          <p:nvPr/>
        </p:nvSpPr>
        <p:spPr>
          <a:xfrm>
            <a:off x="1097280" y="1371600"/>
            <a:ext cx="2743200" cy="29260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Open a Canvas page</a:t>
            </a:r>
            <a:endParaRPr lang="en-US" sz="1800" dirty="0"/>
          </a:p>
        </p:txBody>
      </p:sp>
      <p:sp>
        <p:nvSpPr>
          <p:cNvPr id="6" name="Step 1 body"/>
          <p:cNvSpPr txBox="1"/>
          <p:nvPr/>
        </p:nvSpPr>
        <p:spPr>
          <a:xfrm>
            <a:off x="1097280" y="1673352"/>
            <a:ext cx="2743200" cy="2743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The sidebar follows your course.</a:t>
            </a:r>
            <a:endParaRPr lang="en-US" sz="1400" dirty="0"/>
          </a:p>
        </p:txBody>
      </p:sp>
      <p:sp>
        <p:nvSpPr>
          <p:cNvPr id="7" name="Step 2 badge"/>
          <p:cNvSpPr/>
          <p:nvPr/>
        </p:nvSpPr>
        <p:spPr>
          <a:xfrm>
            <a:off x="457200" y="2240280"/>
            <a:ext cx="457200" cy="457200"/>
          </a:xfrm>
          <a:prstGeom prst="ellipse">
            <a:avLst/>
          </a:prstGeom>
          <a:solidFill>
            <a:schemeClr val="accent1"/>
          </a:solidFill>
          <a:ln w="12700">
            <a:solidFill>
              <a:schemeClr val="accent1"/>
            </a:solidFill>
            <a:prstDash val="solid"/>
          </a:ln>
        </p:spPr>
      </p:sp>
      <p:sp>
        <p:nvSpPr>
          <p:cNvPr id="8" name="Step 2 number"/>
          <p:cNvSpPr txBox="1"/>
          <p:nvPr/>
        </p:nvSpPr>
        <p:spPr>
          <a:xfrm>
            <a:off x="457200" y="22402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9" name="Step 2 head"/>
          <p:cNvSpPr txBox="1"/>
          <p:nvPr/>
        </p:nvSpPr>
        <p:spPr>
          <a:xfrm>
            <a:off x="1097280" y="2194560"/>
            <a:ext cx="2743200" cy="29260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Check Sources</a:t>
            </a:r>
            <a:endParaRPr lang="en-US" sz="1800" dirty="0"/>
          </a:p>
        </p:txBody>
      </p:sp>
      <p:sp>
        <p:nvSpPr>
          <p:cNvPr id="10" name="Step 2 body"/>
          <p:cNvSpPr txBox="1"/>
          <p:nvPr/>
        </p:nvSpPr>
        <p:spPr>
          <a:xfrm>
            <a:off x="1097280" y="2496312"/>
            <a:ext cx="2743200" cy="2743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Every linked page, as Markdown.</a:t>
            </a:r>
            <a:endParaRPr lang="en-US" sz="1400" dirty="0"/>
          </a:p>
        </p:txBody>
      </p:sp>
      <p:sp>
        <p:nvSpPr>
          <p:cNvPr id="11" name="Step 3 badge"/>
          <p:cNvSpPr/>
          <p:nvPr/>
        </p:nvSpPr>
        <p:spPr>
          <a:xfrm>
            <a:off x="457200" y="3063240"/>
            <a:ext cx="457200" cy="457200"/>
          </a:xfrm>
          <a:prstGeom prst="ellipse">
            <a:avLst/>
          </a:prstGeom>
          <a:solidFill>
            <a:schemeClr val="accent1"/>
          </a:solidFill>
          <a:ln w="12700">
            <a:solidFill>
              <a:schemeClr val="accent1"/>
            </a:solidFill>
            <a:prstDash val="solid"/>
          </a:ln>
        </p:spPr>
      </p:sp>
      <p:sp>
        <p:nvSpPr>
          <p:cNvPr id="12" name="Step 3 number"/>
          <p:cNvSpPr txBox="1"/>
          <p:nvPr/>
        </p:nvSpPr>
        <p:spPr>
          <a:xfrm>
            <a:off x="457200" y="3063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3" name="Step 3 head"/>
          <p:cNvSpPr txBox="1"/>
          <p:nvPr/>
        </p:nvSpPr>
        <p:spPr>
          <a:xfrm>
            <a:off x="1097280" y="3017520"/>
            <a:ext cx="2743200" cy="29260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Ask a question</a:t>
            </a:r>
            <a:endParaRPr lang="en-US" sz="1800" dirty="0"/>
          </a:p>
        </p:txBody>
      </p:sp>
      <p:sp>
        <p:nvSpPr>
          <p:cNvPr id="14" name="Step 3 body"/>
          <p:cNvSpPr txBox="1"/>
          <p:nvPr/>
        </p:nvSpPr>
        <p:spPr>
          <a:xfrm>
            <a:off x="1097280" y="3319272"/>
            <a:ext cx="2743200" cy="2743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Gemma streams a cited answer.</a:t>
            </a:r>
            <a:endParaRPr lang="en-US" sz="1400" dirty="0"/>
          </a:p>
        </p:txBody>
      </p:sp>
      <p:sp>
        <p:nvSpPr>
          <p:cNvPr id="15" name="Step 4 badge"/>
          <p:cNvSpPr/>
          <p:nvPr/>
        </p:nvSpPr>
        <p:spPr>
          <a:xfrm>
            <a:off x="457200" y="3886200"/>
            <a:ext cx="457200" cy="457200"/>
          </a:xfrm>
          <a:prstGeom prst="ellipse">
            <a:avLst/>
          </a:prstGeom>
          <a:solidFill>
            <a:schemeClr val="accent1"/>
          </a:solidFill>
          <a:ln w="12700">
            <a:solidFill>
              <a:schemeClr val="accent1"/>
            </a:solidFill>
            <a:prstDash val="solid"/>
          </a:ln>
        </p:spPr>
      </p:sp>
      <p:sp>
        <p:nvSpPr>
          <p:cNvPr id="16" name="Step 4 number"/>
          <p:cNvSpPr txBox="1"/>
          <p:nvPr/>
        </p:nvSpPr>
        <p:spPr>
          <a:xfrm>
            <a:off x="45720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17" name="Step 4 head"/>
          <p:cNvSpPr txBox="1"/>
          <p:nvPr/>
        </p:nvSpPr>
        <p:spPr>
          <a:xfrm>
            <a:off x="1097280" y="3840480"/>
            <a:ext cx="2743200" cy="29260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Start a new chat</a:t>
            </a:r>
            <a:endParaRPr lang="en-US" sz="1800" dirty="0"/>
          </a:p>
        </p:txBody>
      </p:sp>
      <p:sp>
        <p:nvSpPr>
          <p:cNvPr id="18" name="Step 4 body"/>
          <p:cNvSpPr txBox="1"/>
          <p:nvPr/>
        </p:nvSpPr>
        <p:spPr>
          <a:xfrm>
            <a:off x="1097280" y="4142232"/>
            <a:ext cx="2743200" cy="2743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It remembers the earlier one.</a:t>
            </a:r>
            <a:endParaRPr lang="en-US" sz="1400" dirty="0"/>
          </a:p>
        </p:txBody>
      </p:sp>
      <p:pic>
        <p:nvPicPr>
          <p:cNvPr id="19" name="Image 0" descr="Canvas page beside the Study Agent sidebar showing a cited answer">    </p:cNvPr>
          <p:cNvPicPr>
            <a:picLocks noChangeAspect="1"/>
          </p:cNvPicPr>
          <p:nvPr/>
        </p:nvPicPr>
        <p:blipFill>
          <a:blip r:embed="rId1"/>
          <a:stretch>
            <a:fillRect/>
          </a:stretch>
        </p:blipFill>
        <p:spPr>
          <a:xfrm>
            <a:off x="4114800" y="1371600"/>
            <a:ext cx="4572000" cy="2753360"/>
          </a:xfrm>
          <a:prstGeom prst="rect">
            <a:avLst/>
          </a:prstGeom>
          <a:effectLst>
            <a:outerShdw sx="100000" sy="100000" kx="0" ky="0" algn="bl" rotWithShape="0" blurRad="101600" dist="25400" dir="5400000">
              <a:srgbClr val="000000">
                <a:alpha val="25000"/>
              </a:srgbClr>
            </a:outerShdw>
          </a:effectLst>
        </p:spPr>
      </p:pic>
      <p:sp>
        <p:nvSpPr>
          <p:cNvPr id="20" name="Demo caption"/>
          <p:cNvSpPr txBox="1"/>
          <p:nvPr/>
        </p:nvSpPr>
        <p:spPr>
          <a:xfrm>
            <a:off x="4114800" y="4262120"/>
            <a:ext cx="4572000" cy="4572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Real on-device run: Gemma 4 E2B cites course sources [S1] [S2] and earlier-chat memory [M2].</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How a question becomes an answer</a:t>
            </a:r>
            <a:endParaRPr lang="en-US" sz="3200" dirty="0"/>
          </a:p>
        </p:txBody>
      </p:sp>
      <p:sp>
        <p:nvSpPr>
          <p:cNvPr id="3" name="Flow box 1"/>
          <p:cNvSpPr/>
          <p:nvPr/>
        </p:nvSpPr>
        <p:spPr>
          <a:xfrm>
            <a:off x="502920" y="1371600"/>
            <a:ext cx="1691640" cy="2011680"/>
          </a:xfrm>
          <a:prstGeom prst="roundRect">
            <a:avLst>
              <a:gd name="adj" fmla="val 6486"/>
            </a:avLst>
          </a:prstGeom>
          <a:solidFill>
            <a:schemeClr val="bg2"/>
          </a:solidFill>
          <a:ln w="12700">
            <a:solidFill>
              <a:schemeClr val="bg2"/>
            </a:solidFill>
            <a:prstDash val="solid"/>
          </a:ln>
        </p:spPr>
      </p:sp>
      <p:sp>
        <p:nvSpPr>
          <p:cNvPr id="4" name="Flow 1 number"/>
          <p:cNvSpPr txBox="1"/>
          <p:nvPr/>
        </p:nvSpPr>
        <p:spPr>
          <a:xfrm>
            <a:off x="685800" y="1536192"/>
            <a:ext cx="45720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1</a:t>
            </a:r>
            <a:endParaRPr lang="en-US" sz="2000" dirty="0"/>
          </a:p>
        </p:txBody>
      </p:sp>
      <p:sp>
        <p:nvSpPr>
          <p:cNvPr id="5" name="Flow 1 head"/>
          <p:cNvSpPr txBox="1"/>
          <p:nvPr/>
        </p:nvSpPr>
        <p:spPr>
          <a:xfrm>
            <a:off x="685800" y="1965960"/>
            <a:ext cx="1371600" cy="5943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Canvas page</a:t>
            </a:r>
            <a:endParaRPr lang="en-US" sz="1800" dirty="0"/>
          </a:p>
        </p:txBody>
      </p:sp>
      <p:sp>
        <p:nvSpPr>
          <p:cNvPr id="6" name="Flow 1 body"/>
          <p:cNvSpPr txBox="1"/>
          <p:nvPr/>
        </p:nvSpPr>
        <p:spPr>
          <a:xfrm>
            <a:off x="685800" y="2606040"/>
            <a:ext cx="1371600" cy="68580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Read with your own login</a:t>
            </a:r>
            <a:endParaRPr lang="en-US" sz="1400" dirty="0"/>
          </a:p>
        </p:txBody>
      </p:sp>
      <p:sp>
        <p:nvSpPr>
          <p:cNvPr id="7" name="Flow arrow 1"/>
          <p:cNvSpPr/>
          <p:nvPr/>
        </p:nvSpPr>
        <p:spPr>
          <a:xfrm>
            <a:off x="2267712" y="2249424"/>
            <a:ext cx="310896" cy="256032"/>
          </a:xfrm>
          <a:prstGeom prst="rightArrow">
            <a:avLst/>
          </a:prstGeom>
          <a:solidFill>
            <a:schemeClr val="accent5"/>
          </a:solidFill>
          <a:ln w="12700">
            <a:solidFill>
              <a:schemeClr val="accent5"/>
            </a:solidFill>
            <a:prstDash val="solid"/>
          </a:ln>
        </p:spPr>
      </p:sp>
      <p:sp>
        <p:nvSpPr>
          <p:cNvPr id="8" name="Flow box 2"/>
          <p:cNvSpPr/>
          <p:nvPr/>
        </p:nvSpPr>
        <p:spPr>
          <a:xfrm>
            <a:off x="2651760" y="1371600"/>
            <a:ext cx="1691640" cy="2011680"/>
          </a:xfrm>
          <a:prstGeom prst="roundRect">
            <a:avLst>
              <a:gd name="adj" fmla="val 6486"/>
            </a:avLst>
          </a:prstGeom>
          <a:solidFill>
            <a:schemeClr val="bg2"/>
          </a:solidFill>
          <a:ln w="12700">
            <a:solidFill>
              <a:schemeClr val="bg2"/>
            </a:solidFill>
            <a:prstDash val="solid"/>
          </a:ln>
        </p:spPr>
      </p:sp>
      <p:sp>
        <p:nvSpPr>
          <p:cNvPr id="9" name="Flow 2 number"/>
          <p:cNvSpPr txBox="1"/>
          <p:nvPr/>
        </p:nvSpPr>
        <p:spPr>
          <a:xfrm>
            <a:off x="2834640" y="1536192"/>
            <a:ext cx="45720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2</a:t>
            </a:r>
            <a:endParaRPr lang="en-US" sz="2000" dirty="0"/>
          </a:p>
        </p:txBody>
      </p:sp>
      <p:sp>
        <p:nvSpPr>
          <p:cNvPr id="10" name="Flow 2 head"/>
          <p:cNvSpPr txBox="1"/>
          <p:nvPr/>
        </p:nvSpPr>
        <p:spPr>
          <a:xfrm>
            <a:off x="2834640" y="1965960"/>
            <a:ext cx="1371600" cy="5943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Local grounding</a:t>
            </a:r>
            <a:endParaRPr lang="en-US" sz="1800" dirty="0"/>
          </a:p>
        </p:txBody>
      </p:sp>
      <p:sp>
        <p:nvSpPr>
          <p:cNvPr id="11" name="Flow 2 body"/>
          <p:cNvSpPr txBox="1"/>
          <p:nvPr/>
        </p:nvSpPr>
        <p:spPr>
          <a:xfrm>
            <a:off x="2834640" y="2606040"/>
            <a:ext cx="1371600" cy="68580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Rank excerpts to fit 6,144 tokens</a:t>
            </a:r>
            <a:endParaRPr lang="en-US" sz="1400" dirty="0"/>
          </a:p>
        </p:txBody>
      </p:sp>
      <p:sp>
        <p:nvSpPr>
          <p:cNvPr id="12" name="Flow arrow 2"/>
          <p:cNvSpPr/>
          <p:nvPr/>
        </p:nvSpPr>
        <p:spPr>
          <a:xfrm>
            <a:off x="4416552" y="2249424"/>
            <a:ext cx="310896" cy="256032"/>
          </a:xfrm>
          <a:prstGeom prst="rightArrow">
            <a:avLst/>
          </a:prstGeom>
          <a:solidFill>
            <a:schemeClr val="accent5"/>
          </a:solidFill>
          <a:ln w="12700">
            <a:solidFill>
              <a:schemeClr val="accent5"/>
            </a:solidFill>
            <a:prstDash val="solid"/>
          </a:ln>
        </p:spPr>
      </p:sp>
      <p:sp>
        <p:nvSpPr>
          <p:cNvPr id="13" name="Flow box 3"/>
          <p:cNvSpPr/>
          <p:nvPr/>
        </p:nvSpPr>
        <p:spPr>
          <a:xfrm>
            <a:off x="4800600" y="1371600"/>
            <a:ext cx="1691640" cy="2011680"/>
          </a:xfrm>
          <a:prstGeom prst="roundRect">
            <a:avLst>
              <a:gd name="adj" fmla="val 6486"/>
            </a:avLst>
          </a:prstGeom>
          <a:solidFill>
            <a:schemeClr val="accent2"/>
          </a:solidFill>
          <a:ln w="12700">
            <a:solidFill>
              <a:schemeClr val="accent2"/>
            </a:solidFill>
            <a:prstDash val="solid"/>
          </a:ln>
        </p:spPr>
      </p:sp>
      <p:sp>
        <p:nvSpPr>
          <p:cNvPr id="14" name="Flow 3 number"/>
          <p:cNvSpPr txBox="1"/>
          <p:nvPr/>
        </p:nvSpPr>
        <p:spPr>
          <a:xfrm>
            <a:off x="4983480" y="1536192"/>
            <a:ext cx="45720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5" name="Flow 3 head"/>
          <p:cNvSpPr txBox="1"/>
          <p:nvPr/>
        </p:nvSpPr>
        <p:spPr>
          <a:xfrm>
            <a:off x="4983480" y="1965960"/>
            <a:ext cx="1371600" cy="5943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Gemma on WebGPU</a:t>
            </a:r>
            <a:endParaRPr lang="en-US" sz="1800" dirty="0"/>
          </a:p>
        </p:txBody>
      </p:sp>
      <p:sp>
        <p:nvSpPr>
          <p:cNvPr id="16" name="Flow 3 body"/>
          <p:cNvSpPr txBox="1"/>
          <p:nvPr/>
        </p:nvSpPr>
        <p:spPr>
          <a:xfrm>
            <a:off x="4983480" y="2606040"/>
            <a:ext cx="1371600" cy="68580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LiteRT-LM in a browser worker</a:t>
            </a:r>
            <a:endParaRPr lang="en-US" sz="1400" dirty="0"/>
          </a:p>
        </p:txBody>
      </p:sp>
      <p:sp>
        <p:nvSpPr>
          <p:cNvPr id="17" name="Flow arrow 3"/>
          <p:cNvSpPr/>
          <p:nvPr/>
        </p:nvSpPr>
        <p:spPr>
          <a:xfrm>
            <a:off x="6565392" y="2249424"/>
            <a:ext cx="310896" cy="256032"/>
          </a:xfrm>
          <a:prstGeom prst="rightArrow">
            <a:avLst/>
          </a:prstGeom>
          <a:solidFill>
            <a:schemeClr val="accent5"/>
          </a:solidFill>
          <a:ln w="12700">
            <a:solidFill>
              <a:schemeClr val="accent5"/>
            </a:solidFill>
            <a:prstDash val="solid"/>
          </a:ln>
        </p:spPr>
      </p:sp>
      <p:sp>
        <p:nvSpPr>
          <p:cNvPr id="18" name="Flow box 4"/>
          <p:cNvSpPr/>
          <p:nvPr/>
        </p:nvSpPr>
        <p:spPr>
          <a:xfrm>
            <a:off x="6949440" y="1371600"/>
            <a:ext cx="1691640" cy="2011680"/>
          </a:xfrm>
          <a:prstGeom prst="roundRect">
            <a:avLst>
              <a:gd name="adj" fmla="val 6486"/>
            </a:avLst>
          </a:prstGeom>
          <a:solidFill>
            <a:schemeClr val="bg2"/>
          </a:solidFill>
          <a:ln w="12700">
            <a:solidFill>
              <a:schemeClr val="bg2"/>
            </a:solidFill>
            <a:prstDash val="solid"/>
          </a:ln>
        </p:spPr>
      </p:sp>
      <p:sp>
        <p:nvSpPr>
          <p:cNvPr id="19" name="Flow 4 number"/>
          <p:cNvSpPr txBox="1"/>
          <p:nvPr/>
        </p:nvSpPr>
        <p:spPr>
          <a:xfrm>
            <a:off x="7132320" y="1536192"/>
            <a:ext cx="45720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4</a:t>
            </a:r>
            <a:endParaRPr lang="en-US" sz="2000" dirty="0"/>
          </a:p>
        </p:txBody>
      </p:sp>
      <p:sp>
        <p:nvSpPr>
          <p:cNvPr id="20" name="Flow 4 head"/>
          <p:cNvSpPr txBox="1"/>
          <p:nvPr/>
        </p:nvSpPr>
        <p:spPr>
          <a:xfrm>
            <a:off x="7132320" y="1965960"/>
            <a:ext cx="1371600" cy="5943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Cited answer</a:t>
            </a:r>
            <a:endParaRPr lang="en-US" sz="1800" dirty="0"/>
          </a:p>
        </p:txBody>
      </p:sp>
      <p:sp>
        <p:nvSpPr>
          <p:cNvPr id="21" name="Flow 4 body"/>
          <p:cNvSpPr txBox="1"/>
          <p:nvPr/>
        </p:nvSpPr>
        <p:spPr>
          <a:xfrm>
            <a:off x="7132320" y="2606040"/>
            <a:ext cx="1371600" cy="68580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Streamed with [S#] and [M#] refs</a:t>
            </a:r>
            <a:endParaRPr lang="en-US" sz="1400" dirty="0"/>
          </a:p>
        </p:txBody>
      </p:sp>
      <p:sp>
        <p:nvSpPr>
          <p:cNvPr id="22" name="Store card 1"/>
          <p:cNvSpPr/>
          <p:nvPr/>
        </p:nvSpPr>
        <p:spPr>
          <a:xfrm>
            <a:off x="502920" y="3657600"/>
            <a:ext cx="3977640" cy="868680"/>
          </a:xfrm>
          <a:prstGeom prst="roundRect">
            <a:avLst>
              <a:gd name="adj" fmla="val 12632"/>
            </a:avLst>
          </a:prstGeom>
          <a:solidFill>
            <a:schemeClr val="tx1"/>
          </a:solidFill>
          <a:ln w="12700">
            <a:solidFill>
              <a:schemeClr val="tx1"/>
            </a:solidFill>
            <a:prstDash val="solid"/>
          </a:ln>
        </p:spPr>
      </p:sp>
      <p:pic>
        <p:nvPicPr>
          <p:cNvPr id="23" name="Image 0" descr="IndexedDB">    </p:cNvPr>
          <p:cNvPicPr>
            <a:picLocks noChangeAspect="1"/>
          </p:cNvPicPr>
          <p:nvPr/>
        </p:nvPicPr>
        <p:blipFill>
          <a:blip r:embed="rId1"/>
          <a:stretch>
            <a:fillRect/>
          </a:stretch>
        </p:blipFill>
        <p:spPr>
          <a:xfrm>
            <a:off x="731520" y="3931920"/>
            <a:ext cx="329184" cy="329184"/>
          </a:xfrm>
          <a:prstGeom prst="rect">
            <a:avLst/>
          </a:prstGeom>
        </p:spPr>
      </p:pic>
      <p:sp>
        <p:nvSpPr>
          <p:cNvPr id="24" name="Store 1 head"/>
          <p:cNvSpPr txBox="1"/>
          <p:nvPr/>
        </p:nvSpPr>
        <p:spPr>
          <a:xfrm>
            <a:off x="1234440" y="3767328"/>
            <a:ext cx="3108960" cy="27432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IndexedDB</a:t>
            </a:r>
            <a:endParaRPr lang="en-US" sz="1600" dirty="0"/>
          </a:p>
        </p:txBody>
      </p:sp>
      <p:sp>
        <p:nvSpPr>
          <p:cNvPr id="25" name="Store 1 body"/>
          <p:cNvSpPr txBox="1"/>
          <p:nvPr/>
        </p:nvSpPr>
        <p:spPr>
          <a:xfrm>
            <a:off x="1234440" y="4069080"/>
            <a:ext cx="3108960" cy="36576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Course pages, chats and memory</a:t>
            </a:r>
            <a:endParaRPr lang="en-US" sz="1400" dirty="0"/>
          </a:p>
        </p:txBody>
      </p:sp>
      <p:sp>
        <p:nvSpPr>
          <p:cNvPr id="26" name="Store card 2"/>
          <p:cNvSpPr/>
          <p:nvPr/>
        </p:nvSpPr>
        <p:spPr>
          <a:xfrm>
            <a:off x="4663440" y="3657600"/>
            <a:ext cx="3977640" cy="868680"/>
          </a:xfrm>
          <a:prstGeom prst="roundRect">
            <a:avLst>
              <a:gd name="adj" fmla="val 12632"/>
            </a:avLst>
          </a:prstGeom>
          <a:solidFill>
            <a:schemeClr val="tx1"/>
          </a:solidFill>
          <a:ln w="12700">
            <a:solidFill>
              <a:schemeClr val="tx1"/>
            </a:solidFill>
            <a:prstDash val="solid"/>
          </a:ln>
        </p:spPr>
      </p:sp>
      <p:pic>
        <p:nvPicPr>
          <p:cNvPr id="27" name="Image 1" descr="OPFS">    </p:cNvPr>
          <p:cNvPicPr>
            <a:picLocks noChangeAspect="1"/>
          </p:cNvPicPr>
          <p:nvPr/>
        </p:nvPicPr>
        <p:blipFill>
          <a:blip r:embed="rId2"/>
          <a:stretch>
            <a:fillRect/>
          </a:stretch>
        </p:blipFill>
        <p:spPr>
          <a:xfrm>
            <a:off x="4892040" y="3931920"/>
            <a:ext cx="329184" cy="329184"/>
          </a:xfrm>
          <a:prstGeom prst="rect">
            <a:avLst/>
          </a:prstGeom>
        </p:spPr>
      </p:pic>
      <p:sp>
        <p:nvSpPr>
          <p:cNvPr id="28" name="Store 2 head"/>
          <p:cNvSpPr txBox="1"/>
          <p:nvPr/>
        </p:nvSpPr>
        <p:spPr>
          <a:xfrm>
            <a:off x="5394960" y="3767328"/>
            <a:ext cx="3108960" cy="27432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OPFS</a:t>
            </a:r>
            <a:endParaRPr lang="en-US" sz="1600" dirty="0"/>
          </a:p>
        </p:txBody>
      </p:sp>
      <p:sp>
        <p:nvSpPr>
          <p:cNvPr id="29" name="Store 2 body"/>
          <p:cNvSpPr txBox="1"/>
          <p:nvPr/>
        </p:nvSpPr>
        <p:spPr>
          <a:xfrm>
            <a:off x="5394960" y="4069080"/>
            <a:ext cx="3108960" cy="36576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Verified 2.01 GB Gemma weights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Gemma thinks. WebGPU runs it.</a:t>
            </a:r>
            <a:endParaRPr lang="en-US" sz="3200" dirty="0"/>
          </a:p>
        </p:txBody>
      </p:sp>
      <p:sp>
        <p:nvSpPr>
          <p:cNvPr id="3" name="Role card 1"/>
          <p:cNvSpPr/>
          <p:nvPr/>
        </p:nvSpPr>
        <p:spPr>
          <a:xfrm>
            <a:off x="457200" y="1280160"/>
            <a:ext cx="4023360" cy="2514600"/>
          </a:xfrm>
          <a:prstGeom prst="roundRect">
            <a:avLst>
              <a:gd name="adj" fmla="val 4364"/>
            </a:avLst>
          </a:prstGeom>
          <a:solidFill>
            <a:schemeClr val="bg2"/>
          </a:solidFill>
          <a:ln w="12700">
            <a:solidFill>
              <a:schemeClr val="bg2"/>
            </a:solidFill>
            <a:prstDash val="solid"/>
          </a:ln>
        </p:spPr>
      </p:sp>
      <p:sp>
        <p:nvSpPr>
          <p:cNvPr id="4" name="Role icon circle 1"/>
          <p:cNvSpPr/>
          <p:nvPr/>
        </p:nvSpPr>
        <p:spPr>
          <a:xfrm>
            <a:off x="731520" y="1481328"/>
            <a:ext cx="594360" cy="594360"/>
          </a:xfrm>
          <a:prstGeom prst="ellipse">
            <a:avLst/>
          </a:prstGeom>
          <a:solidFill>
            <a:schemeClr val="accent2"/>
          </a:solidFill>
          <a:ln w="12700">
            <a:solidFill>
              <a:schemeClr val="accent2"/>
            </a:solidFill>
            <a:prstDash val="solid"/>
          </a:ln>
        </p:spPr>
      </p:sp>
      <p:pic>
        <p:nvPicPr>
          <p:cNvPr id="5" name="Image 0" descr="Gemma 4 E2B">    </p:cNvPr>
          <p:cNvPicPr>
            <a:picLocks noChangeAspect="1"/>
          </p:cNvPicPr>
          <p:nvPr/>
        </p:nvPicPr>
        <p:blipFill>
          <a:blip r:embed="rId1"/>
          <a:stretch>
            <a:fillRect/>
          </a:stretch>
        </p:blipFill>
        <p:spPr>
          <a:xfrm>
            <a:off x="886968" y="1636776"/>
            <a:ext cx="283464" cy="283464"/>
          </a:xfrm>
          <a:prstGeom prst="rect">
            <a:avLst/>
          </a:prstGeom>
        </p:spPr>
      </p:pic>
      <p:sp>
        <p:nvSpPr>
          <p:cNvPr id="6" name="Role 1 head"/>
          <p:cNvSpPr txBox="1"/>
          <p:nvPr/>
        </p:nvSpPr>
        <p:spPr>
          <a:xfrm>
            <a:off x="1508760" y="1463040"/>
            <a:ext cx="2743200" cy="347472"/>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Gemma 4 E2B</a:t>
            </a:r>
            <a:endParaRPr lang="en-US" sz="2200" dirty="0"/>
          </a:p>
        </p:txBody>
      </p:sp>
      <p:sp>
        <p:nvSpPr>
          <p:cNvPr id="7" name="Role 1 sub"/>
          <p:cNvSpPr txBox="1"/>
          <p:nvPr/>
        </p:nvSpPr>
        <p:spPr>
          <a:xfrm>
            <a:off x="1508760" y="1810512"/>
            <a:ext cx="2743200" cy="256032"/>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The model</a:t>
            </a:r>
            <a:endParaRPr lang="en-US" sz="1400" dirty="0"/>
          </a:p>
        </p:txBody>
      </p:sp>
      <p:sp>
        <p:nvSpPr>
          <p:cNvPr id="8" name="Role 1 bullets"/>
          <p:cNvSpPr txBox="1"/>
          <p:nvPr/>
        </p:nvSpPr>
        <p:spPr>
          <a:xfrm>
            <a:off x="731520" y="2331720"/>
            <a:ext cx="352044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Open weights (Apache 2.0): no API, no key</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2.01 GB, downloaded once, SHA-256 verified</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Answers from the course excerpts we hand it</a:t>
            </a:r>
            <a:endParaRPr lang="en-US" sz="1400" dirty="0"/>
          </a:p>
        </p:txBody>
      </p:sp>
      <p:sp>
        <p:nvSpPr>
          <p:cNvPr id="9" name="Role card 2"/>
          <p:cNvSpPr/>
          <p:nvPr/>
        </p:nvSpPr>
        <p:spPr>
          <a:xfrm>
            <a:off x="4663440" y="1280160"/>
            <a:ext cx="4023360" cy="2514600"/>
          </a:xfrm>
          <a:prstGeom prst="roundRect">
            <a:avLst>
              <a:gd name="adj" fmla="val 4364"/>
            </a:avLst>
          </a:prstGeom>
          <a:solidFill>
            <a:schemeClr val="bg2"/>
          </a:solidFill>
          <a:ln w="12700">
            <a:solidFill>
              <a:schemeClr val="bg2"/>
            </a:solidFill>
            <a:prstDash val="solid"/>
          </a:ln>
        </p:spPr>
      </p:sp>
      <p:sp>
        <p:nvSpPr>
          <p:cNvPr id="10" name="Role icon circle 2"/>
          <p:cNvSpPr/>
          <p:nvPr/>
        </p:nvSpPr>
        <p:spPr>
          <a:xfrm>
            <a:off x="4937760" y="1481328"/>
            <a:ext cx="594360" cy="594360"/>
          </a:xfrm>
          <a:prstGeom prst="ellipse">
            <a:avLst/>
          </a:prstGeom>
          <a:solidFill>
            <a:schemeClr val="accent3"/>
          </a:solidFill>
          <a:ln w="12700">
            <a:solidFill>
              <a:schemeClr val="accent3"/>
            </a:solidFill>
            <a:prstDash val="solid"/>
          </a:ln>
        </p:spPr>
      </p:sp>
      <p:pic>
        <p:nvPicPr>
          <p:cNvPr id="11" name="Image 1" descr="WebGPU">    </p:cNvPr>
          <p:cNvPicPr>
            <a:picLocks noChangeAspect="1"/>
          </p:cNvPicPr>
          <p:nvPr/>
        </p:nvPicPr>
        <p:blipFill>
          <a:blip r:embed="rId2"/>
          <a:stretch>
            <a:fillRect/>
          </a:stretch>
        </p:blipFill>
        <p:spPr>
          <a:xfrm>
            <a:off x="5093208" y="1636776"/>
            <a:ext cx="283464" cy="283464"/>
          </a:xfrm>
          <a:prstGeom prst="rect">
            <a:avLst/>
          </a:prstGeom>
        </p:spPr>
      </p:pic>
      <p:sp>
        <p:nvSpPr>
          <p:cNvPr id="12" name="Role 2 head"/>
          <p:cNvSpPr txBox="1"/>
          <p:nvPr/>
        </p:nvSpPr>
        <p:spPr>
          <a:xfrm>
            <a:off x="5715000" y="1463040"/>
            <a:ext cx="2743200" cy="347472"/>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WebGPU</a:t>
            </a:r>
            <a:endParaRPr lang="en-US" sz="2200" dirty="0"/>
          </a:p>
        </p:txBody>
      </p:sp>
      <p:sp>
        <p:nvSpPr>
          <p:cNvPr id="13" name="Role 2 sub"/>
          <p:cNvSpPr txBox="1"/>
          <p:nvPr/>
        </p:nvSpPr>
        <p:spPr>
          <a:xfrm>
            <a:off x="5715000" y="1810512"/>
            <a:ext cx="2743200" cy="256032"/>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The engine</a:t>
            </a:r>
            <a:endParaRPr lang="en-US" sz="1400" dirty="0"/>
          </a:p>
        </p:txBody>
      </p:sp>
      <p:sp>
        <p:nvSpPr>
          <p:cNvPr id="14" name="Role 2 bullets"/>
          <p:cNvSpPr txBox="1"/>
          <p:nvPr/>
        </p:nvSpPr>
        <p:spPr>
          <a:xfrm>
            <a:off x="4937760" y="2331720"/>
            <a:ext cx="352044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Browser access to your GPU's compute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LiteRT-LM 0.18.0 runs Gemma in a worker</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Needs shader-f16, checked before loading</a:t>
            </a:r>
            <a:endParaRPr lang="en-US" sz="1400" dirty="0"/>
          </a:p>
        </p:txBody>
      </p:sp>
      <p:sp>
        <p:nvSpPr>
          <p:cNvPr id="15" name="Together banner"/>
          <p:cNvSpPr/>
          <p:nvPr/>
        </p:nvSpPr>
        <p:spPr>
          <a:xfrm>
            <a:off x="457200" y="4023360"/>
            <a:ext cx="8229600" cy="548640"/>
          </a:xfrm>
          <a:prstGeom prst="roundRect">
            <a:avLst>
              <a:gd name="adj" fmla="val 16667"/>
            </a:avLst>
          </a:prstGeom>
          <a:solidFill>
            <a:schemeClr val="tx1"/>
          </a:solidFill>
          <a:ln w="12700">
            <a:solidFill>
              <a:schemeClr val="tx1"/>
            </a:solidFill>
            <a:prstDash val="solid"/>
          </a:ln>
        </p:spPr>
      </p:sp>
      <p:sp>
        <p:nvSpPr>
          <p:cNvPr id="16" name="Together text"/>
          <p:cNvSpPr txBox="1"/>
          <p:nvPr/>
        </p:nvSpPr>
        <p:spPr>
          <a:xfrm>
            <a:off x="457200" y="4023360"/>
            <a:ext cx="822960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Together: private by design, free to run, offline once cached</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Verified, and not yet verified</a:t>
            </a:r>
            <a:endParaRPr lang="en-US" sz="3200" dirty="0"/>
          </a:p>
        </p:txBody>
      </p:sp>
      <p:sp>
        <p:nvSpPr>
          <p:cNvPr id="3" name="Stat card 1"/>
          <p:cNvSpPr/>
          <p:nvPr/>
        </p:nvSpPr>
        <p:spPr>
          <a:xfrm>
            <a:off x="457200" y="1325880"/>
            <a:ext cx="4114800" cy="896112"/>
          </a:xfrm>
          <a:prstGeom prst="roundRect">
            <a:avLst>
              <a:gd name="adj" fmla="val 10204"/>
            </a:avLst>
          </a:prstGeom>
          <a:solidFill>
            <a:schemeClr val="bg2"/>
          </a:solidFill>
          <a:ln w="12700">
            <a:solidFill>
              <a:schemeClr val="bg2"/>
            </a:solidFill>
            <a:prstDash val="solid"/>
          </a:ln>
        </p:spPr>
      </p:sp>
      <p:sp>
        <p:nvSpPr>
          <p:cNvPr id="4" name="Stat 1 number"/>
          <p:cNvSpPr txBox="1"/>
          <p:nvPr/>
        </p:nvSpPr>
        <p:spPr>
          <a:xfrm>
            <a:off x="640080" y="1325880"/>
            <a:ext cx="1417320" cy="896112"/>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0</a:t>
            </a:r>
            <a:endParaRPr lang="en-US" sz="3600" dirty="0"/>
          </a:p>
        </p:txBody>
      </p:sp>
      <p:sp>
        <p:nvSpPr>
          <p:cNvPr id="5" name="Stat 1 label"/>
          <p:cNvSpPr txBox="1"/>
          <p:nvPr/>
        </p:nvSpPr>
        <p:spPr>
          <a:xfrm>
            <a:off x="2103120" y="1325880"/>
            <a:ext cx="2331720" cy="8961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model-weight requests when loading from cache, offline</a:t>
            </a:r>
            <a:endParaRPr lang="en-US" sz="1400" dirty="0"/>
          </a:p>
        </p:txBody>
      </p:sp>
      <p:sp>
        <p:nvSpPr>
          <p:cNvPr id="6" name="Stat card 2"/>
          <p:cNvSpPr/>
          <p:nvPr/>
        </p:nvSpPr>
        <p:spPr>
          <a:xfrm>
            <a:off x="457200" y="2350008"/>
            <a:ext cx="4114800" cy="896112"/>
          </a:xfrm>
          <a:prstGeom prst="roundRect">
            <a:avLst>
              <a:gd name="adj" fmla="val 10204"/>
            </a:avLst>
          </a:prstGeom>
          <a:solidFill>
            <a:schemeClr val="bg2"/>
          </a:solidFill>
          <a:ln w="12700">
            <a:solidFill>
              <a:schemeClr val="bg2"/>
            </a:solidFill>
            <a:prstDash val="solid"/>
          </a:ln>
        </p:spPr>
      </p:sp>
      <p:sp>
        <p:nvSpPr>
          <p:cNvPr id="7" name="Stat 2 number"/>
          <p:cNvSpPr txBox="1"/>
          <p:nvPr/>
        </p:nvSpPr>
        <p:spPr>
          <a:xfrm>
            <a:off x="640080" y="2350008"/>
            <a:ext cx="1417320" cy="896112"/>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0.4 s</a:t>
            </a:r>
            <a:endParaRPr lang="en-US" sz="3600" dirty="0"/>
          </a:p>
        </p:txBody>
      </p:sp>
      <p:sp>
        <p:nvSpPr>
          <p:cNvPr id="8" name="Stat 2 label"/>
          <p:cNvSpPr txBox="1"/>
          <p:nvPr/>
        </p:nvSpPr>
        <p:spPr>
          <a:xfrm>
            <a:off x="2103120" y="2350008"/>
            <a:ext cx="2331720" cy="8961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to first text from the cached model (warm-up reply)</a:t>
            </a:r>
            <a:endParaRPr lang="en-US" sz="1400" dirty="0"/>
          </a:p>
        </p:txBody>
      </p:sp>
      <p:sp>
        <p:nvSpPr>
          <p:cNvPr id="9" name="Stat card 3"/>
          <p:cNvSpPr/>
          <p:nvPr/>
        </p:nvSpPr>
        <p:spPr>
          <a:xfrm>
            <a:off x="457200" y="3374136"/>
            <a:ext cx="4114800" cy="896112"/>
          </a:xfrm>
          <a:prstGeom prst="roundRect">
            <a:avLst>
              <a:gd name="adj" fmla="val 10204"/>
            </a:avLst>
          </a:prstGeom>
          <a:solidFill>
            <a:schemeClr val="bg2"/>
          </a:solidFill>
          <a:ln w="12700">
            <a:solidFill>
              <a:schemeClr val="bg2"/>
            </a:solidFill>
            <a:prstDash val="solid"/>
          </a:ln>
        </p:spPr>
      </p:sp>
      <p:sp>
        <p:nvSpPr>
          <p:cNvPr id="10" name="Stat 3 number"/>
          <p:cNvSpPr txBox="1"/>
          <p:nvPr/>
        </p:nvSpPr>
        <p:spPr>
          <a:xfrm>
            <a:off x="640080" y="3374136"/>
            <a:ext cx="1417320" cy="896112"/>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a:t>
            </a:r>
            <a:endParaRPr lang="en-US" sz="3600" dirty="0"/>
          </a:p>
        </p:txBody>
      </p:sp>
      <p:sp>
        <p:nvSpPr>
          <p:cNvPr id="11" name="Stat 3 label"/>
          <p:cNvSpPr txBox="1"/>
          <p:nvPr/>
        </p:nvSpPr>
        <p:spPr>
          <a:xfrm>
            <a:off x="2103120" y="3374136"/>
            <a:ext cx="2331720" cy="8961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real courses answered with citations</a:t>
            </a:r>
            <a:endParaRPr lang="en-US" sz="1400" dirty="0"/>
          </a:p>
        </p:txBody>
      </p:sp>
      <p:sp>
        <p:nvSpPr>
          <p:cNvPr id="12" name="Limits card"/>
          <p:cNvSpPr/>
          <p:nvPr/>
        </p:nvSpPr>
        <p:spPr>
          <a:xfrm>
            <a:off x="4846320" y="1325880"/>
            <a:ext cx="3840480" cy="2944368"/>
          </a:xfrm>
          <a:prstGeom prst="roundRect">
            <a:avLst>
              <a:gd name="adj" fmla="val 3727"/>
            </a:avLst>
          </a:prstGeom>
          <a:solidFill>
            <a:schemeClr val="tx1"/>
          </a:solidFill>
          <a:ln w="12700">
            <a:solidFill>
              <a:schemeClr val="tx1"/>
            </a:solidFill>
            <a:prstDash val="solid"/>
          </a:ln>
        </p:spPr>
      </p:sp>
      <p:sp>
        <p:nvSpPr>
          <p:cNvPr id="13" name="Limits head"/>
          <p:cNvSpPr txBox="1"/>
          <p:nvPr/>
        </p:nvSpPr>
        <p:spPr>
          <a:xfrm>
            <a:off x="5120640" y="1508760"/>
            <a:ext cx="3291840" cy="36576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Not yet verified</a:t>
            </a:r>
            <a:endParaRPr lang="en-US" sz="2000" dirty="0"/>
          </a:p>
        </p:txBody>
      </p:sp>
      <p:sp>
        <p:nvSpPr>
          <p:cNvPr id="14" name="Limits bullets"/>
          <p:cNvSpPr txBox="1"/>
          <p:nvPr/>
        </p:nvSpPr>
        <p:spPr>
          <a:xfrm>
            <a:off x="5120640" y="1965960"/>
            <a:ext cx="333756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Retrieval fix: unit-tested, native retest pending</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Voice dictation: speech pack failed to install; typing works</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12B QAT model: disabled until validated</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Local is not the same as correct: check the sources</a:t>
            </a:r>
            <a:endParaRPr lang="en-US" sz="1400" dirty="0"/>
          </a:p>
        </p:txBody>
      </p:sp>
      <p:sp>
        <p:nvSpPr>
          <p:cNvPr id="15" name="Footnote"/>
          <p:cNvSpPr txBox="1"/>
          <p:nvPr/>
        </p:nvSpPr>
        <p:spPr>
          <a:xfrm>
            <a:off x="457200" y="4434840"/>
            <a:ext cx="8229600" cy="2286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Observed on one 16 GiB development machine; not a compatibility guarantee.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Open source. On-device. Yours.</a:t>
            </a:r>
            <a:endParaRPr lang="en-US" sz="3200" dirty="0"/>
          </a:p>
        </p:txBody>
      </p:sp>
      <p:sp>
        <p:nvSpPr>
          <p:cNvPr id="3" name="Today head"/>
          <p:cNvSpPr txBox="1"/>
          <p:nvPr/>
        </p:nvSpPr>
        <p:spPr>
          <a:xfrm>
            <a:off x="457200" y="1371600"/>
            <a:ext cx="3840480" cy="36576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Today</a:t>
            </a:r>
            <a:endParaRPr lang="en-US" sz="2000" dirty="0"/>
          </a:p>
        </p:txBody>
      </p:sp>
      <p:sp>
        <p:nvSpPr>
          <p:cNvPr id="4" name="Today bullets"/>
          <p:cNvSpPr txBox="1"/>
          <p:nvPr/>
        </p:nvSpPr>
        <p:spPr>
          <a:xfrm>
            <a:off x="457200" y="1828800"/>
            <a:ext cx="384048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App: MIT licensed</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Model: Gemma 4, Apache 2.0</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Runs on WebGPU in Chrome 141+</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No chat API, no API key</a:t>
            </a:r>
            <a:endParaRPr lang="en-US" sz="1600" dirty="0"/>
          </a:p>
        </p:txBody>
      </p:sp>
      <p:sp>
        <p:nvSpPr>
          <p:cNvPr id="5" name="Next head"/>
          <p:cNvSpPr txBox="1"/>
          <p:nvPr/>
        </p:nvSpPr>
        <p:spPr>
          <a:xfrm>
            <a:off x="4754880" y="1371600"/>
            <a:ext cx="3840480" cy="36576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Next</a:t>
            </a:r>
            <a:endParaRPr lang="en-US" sz="2000" dirty="0"/>
          </a:p>
        </p:txBody>
      </p:sp>
      <p:sp>
        <p:nvSpPr>
          <p:cNvPr id="6" name="Next bullets"/>
          <p:cNvSpPr txBox="1"/>
          <p:nvPr/>
        </p:nvSpPr>
        <p:spPr>
          <a:xfrm>
            <a:off x="4754880" y="1828800"/>
            <a:ext cx="384048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Native retest of the retrieval fix</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Read PDF and DOCX attachments</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Validate larger Gemma models</a:t>
            </a:r>
            <a:endParaRPr lang="en-US" sz="1600" dirty="0"/>
          </a:p>
        </p:txBody>
      </p:sp>
      <p:pic>
        <p:nvPicPr>
          <p:cNvPr id="7" name="Image 0" descr="GitHub">    </p:cNvPr>
          <p:cNvPicPr>
            <a:picLocks noChangeAspect="1"/>
          </p:cNvPicPr>
          <p:nvPr/>
        </p:nvPicPr>
        <p:blipFill>
          <a:blip r:embed="rId1"/>
          <a:stretch>
            <a:fillRect/>
          </a:stretch>
        </p:blipFill>
        <p:spPr>
          <a:xfrm>
            <a:off x="457200" y="3767328"/>
            <a:ext cx="310896" cy="310896"/>
          </a:xfrm>
          <a:prstGeom prst="rect">
            <a:avLst/>
          </a:prstGeom>
        </p:spPr>
      </p:pic>
      <p:sp>
        <p:nvSpPr>
          <p:cNvPr id="8" name="Repo URL"/>
          <p:cNvSpPr txBox="1"/>
          <p:nvPr/>
        </p:nvSpPr>
        <p:spPr>
          <a:xfrm>
            <a:off x="914400" y="3749040"/>
            <a:ext cx="7680960" cy="36576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github.com/gabrielromerod/hackathon-canvas-study-agent</a:t>
            </a:r>
            <a:endParaRPr lang="en-US" sz="1800" dirty="0"/>
          </a:p>
        </p:txBody>
      </p:sp>
      <p:sp>
        <p:nvSpPr>
          <p:cNvPr id="9" name="Disclosure"/>
          <p:cNvSpPr txBox="1"/>
          <p:nvPr/>
        </p:nvSpPr>
        <p:spPr>
          <a:xfrm>
            <a:off x="457200" y="4434840"/>
            <a:ext cx="7589520" cy="22860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Built with AI coding assistance (Codex, GPT-6.1 Sol). Runtime answers come from Gemma only.</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Canvas Study Agent">
  <a:themeElements>
    <a:clrScheme name="Canvas Study Agent">
      <a:dk1>
        <a:srgbClr val="1B1B24"/>
      </a:dk1>
      <a:lt1>
        <a:srgbClr val="FFFFFF"/>
      </a:lt1>
      <a:dk2>
        <a:srgbClr val="8C1D18"/>
      </a:dk2>
      <a:lt2>
        <a:srgbClr val="F3F4F6"/>
      </a:lt2>
      <a:accent1>
        <a:srgbClr val="8C1D18"/>
      </a:accent1>
      <a:accent2>
        <a:srgbClr val="3B6FE0"/>
      </a:accent2>
      <a:accent3>
        <a:srgbClr val="0B7F73"/>
      </a:accent3>
      <a:accent4>
        <a:srgbClr val="F2B84B"/>
      </a:accent4>
      <a:accent5>
        <a:srgbClr val="5B6070"/>
      </a:accent5>
      <a:accent6>
        <a:srgbClr val="C2410C"/>
      </a:accent6>
      <a:hlink>
        <a:srgbClr val="3B6FE0"/>
      </a:hlink>
      <a:folHlink>
        <a:srgbClr val="5B6070"/>
      </a:folHlink>
    </a:clrScheme>
    <a:fontScheme name="Canvas Study Ag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Canvas Study Agent: 5-minute pitch</dc:title>
  <dc:subject>PptxGenJS Presentation</dc:subject>
  <dc:creator>Canvas Study Agent</dc:creator>
  <cp:lastModifiedBy>Canvas Study Agent</cp:lastModifiedBy>
  <cp:revision>1</cp:revision>
  <dcterms:created xsi:type="dcterms:W3CDTF">2026-10-23T20:40:26Z</dcterms:created>
  <dcterms:modified xsi:type="dcterms:W3CDTF">2026-10-23T20:40:26Z</dcterms:modified>
</cp:coreProperties>
</file>